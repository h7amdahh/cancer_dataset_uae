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79" r:id="rId4"/>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E72EF-C68D-2447-B3EF-FD26C05D79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FAED54-D614-1EA3-EC7A-12665C6274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114B3E-8437-24BA-C804-0DF388CAC619}"/>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5" name="Footer Placeholder 4">
            <a:extLst>
              <a:ext uri="{FF2B5EF4-FFF2-40B4-BE49-F238E27FC236}">
                <a16:creationId xmlns:a16="http://schemas.microsoft.com/office/drawing/2014/main" id="{52BB7CD6-18A9-53AB-5D6D-C03B032C8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DB819-F00A-E885-E745-826DA0E2DE7A}"/>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1104025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D58A7-CDED-B372-8D3D-E20925E2A3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761521-8C5A-EE74-5E26-76C89851D5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A6A7B-568F-2F52-0AF1-7A34FCF3B12C}"/>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5" name="Footer Placeholder 4">
            <a:extLst>
              <a:ext uri="{FF2B5EF4-FFF2-40B4-BE49-F238E27FC236}">
                <a16:creationId xmlns:a16="http://schemas.microsoft.com/office/drawing/2014/main" id="{B94375E7-2463-C48D-18E5-8F26C7DD5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7ED34-B49D-A339-1E2B-CBEA75A8FD70}"/>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3170268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96FBF-D65D-97D1-2835-8464976E9D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3F7893-8C8D-78F7-ED42-DC1F0FD9BA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F289B2-ACB3-E355-4696-FBFEBBCC0E1C}"/>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5" name="Footer Placeholder 4">
            <a:extLst>
              <a:ext uri="{FF2B5EF4-FFF2-40B4-BE49-F238E27FC236}">
                <a16:creationId xmlns:a16="http://schemas.microsoft.com/office/drawing/2014/main" id="{7F538D38-C040-F392-6DEC-1C56ADB14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7DDEC-DFEF-C868-46D3-6DB667C8ABC5}"/>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3224159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1E25F-785E-97D3-AE6F-3EA5B165B3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9ABFDE-91B1-67E3-7220-B1AD4DFC94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B14893-5300-71DB-A15B-B7CEA62818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300843-EDE3-D39C-E70B-D10224D72FB5}"/>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6" name="Footer Placeholder 5">
            <a:extLst>
              <a:ext uri="{FF2B5EF4-FFF2-40B4-BE49-F238E27FC236}">
                <a16:creationId xmlns:a16="http://schemas.microsoft.com/office/drawing/2014/main" id="{3F566D9B-1C5F-63D5-6152-1CFE4585B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2B156-D9C5-3195-42DD-94291A1D2414}"/>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1017645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633D1-3728-8E45-46A5-9FACA27D68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3B3F7-6ABE-923A-B699-0E0E781D80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57A88D-9049-ACBA-8BB8-E074CABB98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C1F7AE-07C6-FDB1-6AA1-E6A267E07A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502C1B-A17A-14C3-23CC-22F0F25CAC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A59B63-28D3-4041-1DF4-80B189383CBB}"/>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8" name="Footer Placeholder 7">
            <a:extLst>
              <a:ext uri="{FF2B5EF4-FFF2-40B4-BE49-F238E27FC236}">
                <a16:creationId xmlns:a16="http://schemas.microsoft.com/office/drawing/2014/main" id="{A6811140-4013-85B1-9572-003F3DFE88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09B3C7-C3C0-33E0-8193-8299881A191C}"/>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818130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A1EF-E1FE-98DE-13C3-A0F7770C84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5B4204-7E5D-B898-FBCC-CCAA836DDEDC}"/>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4" name="Footer Placeholder 3">
            <a:extLst>
              <a:ext uri="{FF2B5EF4-FFF2-40B4-BE49-F238E27FC236}">
                <a16:creationId xmlns:a16="http://schemas.microsoft.com/office/drawing/2014/main" id="{A69F827D-902D-D5CE-5772-3478ED6D91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7CA48B-002F-6F82-C95A-8CAA44315F0D}"/>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3612826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429F85-0143-5931-11E2-23CA034B1C67}"/>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3" name="Footer Placeholder 2">
            <a:extLst>
              <a:ext uri="{FF2B5EF4-FFF2-40B4-BE49-F238E27FC236}">
                <a16:creationId xmlns:a16="http://schemas.microsoft.com/office/drawing/2014/main" id="{47DCA5BF-0398-DE83-4257-A7C8DD374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B8837B-072E-1D7E-D453-C9A70977830C}"/>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385543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F6625-C607-84B5-56B7-8A7285D20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14DA25-2248-8106-2248-CBA3E9D9D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88B10B-E646-432E-7428-EB4C955A7D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90EE5F-BA3F-00FD-D331-9CE6D0930498}"/>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6" name="Footer Placeholder 5">
            <a:extLst>
              <a:ext uri="{FF2B5EF4-FFF2-40B4-BE49-F238E27FC236}">
                <a16:creationId xmlns:a16="http://schemas.microsoft.com/office/drawing/2014/main" id="{FB2B6711-953B-4A5C-1514-F30E058B05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9B97D5-A3EB-DD07-6D8B-2BDC1774B44C}"/>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461142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E264-883B-C316-ACD3-DB56F750A8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A1ABE6-ED4C-80E6-96B9-64E79B2292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E78A56-1C97-6E6F-323B-447D9B7245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C71162-5734-12BE-9F2F-539A6358C3FA}"/>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6" name="Footer Placeholder 5">
            <a:extLst>
              <a:ext uri="{FF2B5EF4-FFF2-40B4-BE49-F238E27FC236}">
                <a16:creationId xmlns:a16="http://schemas.microsoft.com/office/drawing/2014/main" id="{8F716634-1D63-A4A2-2911-CFA03E32F1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CCC4EB-4E64-B4DF-CF99-54844A9E02D1}"/>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2061760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7CE28-62C2-EAED-A5B5-2AE5BA6655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DF4BB6-9E0E-44A0-A3C1-DA19AACBA9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BAF1BB-3016-D446-6455-A05ED11D1A1D}"/>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5" name="Footer Placeholder 4">
            <a:extLst>
              <a:ext uri="{FF2B5EF4-FFF2-40B4-BE49-F238E27FC236}">
                <a16:creationId xmlns:a16="http://schemas.microsoft.com/office/drawing/2014/main" id="{C664BCC0-C096-D72C-D1EB-4986E7F69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98E649-D304-244E-75E7-C59FD49B75D4}"/>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2921327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92A326-C06C-C336-CB1C-6E39282318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ACBEFA-987A-7023-6133-3794337083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657A1-A91A-A9FC-A673-B30DDE4197A3}"/>
              </a:ext>
            </a:extLst>
          </p:cNvPr>
          <p:cNvSpPr>
            <a:spLocks noGrp="1"/>
          </p:cNvSpPr>
          <p:nvPr>
            <p:ph type="dt" sz="half" idx="10"/>
          </p:nvPr>
        </p:nvSpPr>
        <p:spPr/>
        <p:txBody>
          <a:bodyPr/>
          <a:lstStyle/>
          <a:p>
            <a:fld id="{200FC92D-91E4-4D55-9DF7-4A5015678B4C}" type="datetimeFigureOut">
              <a:rPr lang="en-US" smtClean="0"/>
              <a:t>11/21/2025</a:t>
            </a:fld>
            <a:endParaRPr lang="en-US"/>
          </a:p>
        </p:txBody>
      </p:sp>
      <p:sp>
        <p:nvSpPr>
          <p:cNvPr id="5" name="Footer Placeholder 4">
            <a:extLst>
              <a:ext uri="{FF2B5EF4-FFF2-40B4-BE49-F238E27FC236}">
                <a16:creationId xmlns:a16="http://schemas.microsoft.com/office/drawing/2014/main" id="{A286B006-2278-EE5F-35AD-DDC24DE4C1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758D-8435-E07D-242C-01EC231EB0DC}"/>
              </a:ext>
            </a:extLst>
          </p:cNvPr>
          <p:cNvSpPr>
            <a:spLocks noGrp="1"/>
          </p:cNvSpPr>
          <p:nvPr>
            <p:ph type="sldNum" sz="quarter" idx="12"/>
          </p:nvPr>
        </p:nvSpPr>
        <p:spPr/>
        <p:txBody>
          <a:bodyPr/>
          <a:lstStyle/>
          <a:p>
            <a:fld id="{A140D7F3-A2FF-4472-AC97-42FB531F243B}" type="slidenum">
              <a:rPr lang="en-US" smtClean="0"/>
              <a:t>‹#›</a:t>
            </a:fld>
            <a:endParaRPr lang="en-US"/>
          </a:p>
        </p:txBody>
      </p:sp>
    </p:spTree>
    <p:extLst>
      <p:ext uri="{BB962C8B-B14F-4D97-AF65-F5344CB8AC3E}">
        <p14:creationId xmlns:p14="http://schemas.microsoft.com/office/powerpoint/2010/main" val="109197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BF7303-6AAF-B86F-72D4-2742B66B61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FAB42D-27EB-3804-8BEC-2D0353B8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26545-A1E9-CDAD-2E4F-DF90B3D731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0FC92D-91E4-4D55-9DF7-4A5015678B4C}" type="datetimeFigureOut">
              <a:rPr lang="en-US" smtClean="0"/>
              <a:t>11/21/2025</a:t>
            </a:fld>
            <a:endParaRPr lang="en-US"/>
          </a:p>
        </p:txBody>
      </p:sp>
      <p:sp>
        <p:nvSpPr>
          <p:cNvPr id="5" name="Footer Placeholder 4">
            <a:extLst>
              <a:ext uri="{FF2B5EF4-FFF2-40B4-BE49-F238E27FC236}">
                <a16:creationId xmlns:a16="http://schemas.microsoft.com/office/drawing/2014/main" id="{2DD6D88C-B2C2-411C-58D8-97F4D2A5CF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46B893-70E5-13E1-A161-3329BCB89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40D7F3-A2FF-4472-AC97-42FB531F243B}" type="slidenum">
              <a:rPr lang="en-US" smtClean="0"/>
              <a:t>‹#›</a:t>
            </a:fld>
            <a:endParaRPr lang="en-US"/>
          </a:p>
        </p:txBody>
      </p:sp>
    </p:spTree>
    <p:extLst>
      <p:ext uri="{BB962C8B-B14F-4D97-AF65-F5344CB8AC3E}">
        <p14:creationId xmlns:p14="http://schemas.microsoft.com/office/powerpoint/2010/main" val="954598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 TargetMode="External"/><Relationship Id="rId2" Type="http://schemas.openxmlformats.org/officeDocument/2006/relationships/hyperlink" Target="https://github.com/h7amdahh/cancer_dataset_uae"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714483-7072-431F-9DBE-87F44E4D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95892E1-F4A5-4991-AC52-4F417B14A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ACF597F8-76AA-44FA-8E6A-06223B66C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1" name="Oval 20">
              <a:extLst>
                <a:ext uri="{FF2B5EF4-FFF2-40B4-BE49-F238E27FC236}">
                  <a16:creationId xmlns:a16="http://schemas.microsoft.com/office/drawing/2014/main" id="{A6E12753-0A63-43EE-B28A-C989D033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26FA385-76DA-40E9-9257-AA3E07FF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62D75CA-F374-4878-8106-3EA5E970D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938667A5-74E3-4EFD-8C45-F48F47427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31512EE2-F4CC-4E18-9CDA-B92C11122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B99E503B-9B4D-4EE3-A50F-15AC374F6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E2683E3F-F855-4549-84F8-42064EC0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8FC90B1E-0223-4440-AF22-8F32F6F0C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1" name="Straight Connector 30">
              <a:extLst>
                <a:ext uri="{FF2B5EF4-FFF2-40B4-BE49-F238E27FC236}">
                  <a16:creationId xmlns:a16="http://schemas.microsoft.com/office/drawing/2014/main" id="{A2D2E879-0004-4D84-8137-1C09334038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BE75A2-0D83-4F8E-84CC-D3BCD565B1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90F7F49-1039-49EF-A9BD-153DB590B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E85F508-9EA4-4B4D-8171-648670650E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832F3179-0CD5-40C8-9939-D8355006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oup 37">
            <a:extLst>
              <a:ext uri="{FF2B5EF4-FFF2-40B4-BE49-F238E27FC236}">
                <a16:creationId xmlns:a16="http://schemas.microsoft.com/office/drawing/2014/main" id="{11CE155D-684B-4F5E-B835-C52765E310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9" name="Straight Connector 38">
              <a:extLst>
                <a:ext uri="{FF2B5EF4-FFF2-40B4-BE49-F238E27FC236}">
                  <a16:creationId xmlns:a16="http://schemas.microsoft.com/office/drawing/2014/main" id="{04F84AF8-E1A7-41D4-A102-8F87CAE37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ED126F1-DB23-4314-B6C7-FE89E3C581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ACB2B6F-8883-4A00-88DD-98CDDD46B8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9A2180-808A-4423-BB2B-6464B2900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Picture 4" descr="A picture of an electromagnetic radiation">
            <a:extLst>
              <a:ext uri="{FF2B5EF4-FFF2-40B4-BE49-F238E27FC236}">
                <a16:creationId xmlns:a16="http://schemas.microsoft.com/office/drawing/2014/main" id="{0927D917-3F61-6301-C1B0-21DA2A3C9DA5}"/>
              </a:ext>
            </a:extLst>
          </p:cNvPr>
          <p:cNvPicPr>
            <a:picLocks noChangeAspect="1"/>
          </p:cNvPicPr>
          <p:nvPr/>
        </p:nvPicPr>
        <p:blipFill>
          <a:blip r:embed="rId2">
            <a:duotone>
              <a:prstClr val="black"/>
              <a:schemeClr val="bg1">
                <a:tint val="45000"/>
                <a:satMod val="400000"/>
              </a:schemeClr>
            </a:duotone>
            <a:alphaModFix amt="25000"/>
          </a:blip>
          <a:srcRect t="9753" b="6292"/>
          <a:stretch>
            <a:fillRect/>
          </a:stretch>
        </p:blipFill>
        <p:spPr>
          <a:xfrm>
            <a:off x="782657" y="29548"/>
            <a:ext cx="10691304" cy="6013845"/>
          </a:xfrm>
          <a:prstGeom prst="rect">
            <a:avLst/>
          </a:prstGeom>
        </p:spPr>
      </p:pic>
      <p:sp>
        <p:nvSpPr>
          <p:cNvPr id="2" name="Title 1">
            <a:extLst>
              <a:ext uri="{FF2B5EF4-FFF2-40B4-BE49-F238E27FC236}">
                <a16:creationId xmlns:a16="http://schemas.microsoft.com/office/drawing/2014/main" id="{8851754D-4B75-A2F8-4F46-3A57BCB05522}"/>
              </a:ext>
            </a:extLst>
          </p:cNvPr>
          <p:cNvSpPr>
            <a:spLocks noGrp="1"/>
          </p:cNvSpPr>
          <p:nvPr>
            <p:ph type="ctrTitle"/>
          </p:nvPr>
        </p:nvSpPr>
        <p:spPr>
          <a:xfrm>
            <a:off x="2618173" y="630936"/>
            <a:ext cx="7315200" cy="2702018"/>
          </a:xfrm>
          <a:noFill/>
        </p:spPr>
        <p:txBody>
          <a:bodyPr anchor="b">
            <a:normAutofit/>
          </a:bodyPr>
          <a:lstStyle/>
          <a:p>
            <a:r>
              <a:rPr lang="en-US" sz="4800" dirty="0">
                <a:solidFill>
                  <a:schemeClr val="bg1"/>
                </a:solidFill>
              </a:rPr>
              <a:t>Cancer dataset UAE</a:t>
            </a:r>
          </a:p>
        </p:txBody>
      </p:sp>
      <p:sp>
        <p:nvSpPr>
          <p:cNvPr id="3" name="Subtitle 2">
            <a:extLst>
              <a:ext uri="{FF2B5EF4-FFF2-40B4-BE49-F238E27FC236}">
                <a16:creationId xmlns:a16="http://schemas.microsoft.com/office/drawing/2014/main" id="{F479471E-70B6-1A6D-E4CA-A77B2DA9C422}"/>
              </a:ext>
            </a:extLst>
          </p:cNvPr>
          <p:cNvSpPr>
            <a:spLocks noGrp="1"/>
          </p:cNvSpPr>
          <p:nvPr>
            <p:ph type="subTitle" idx="1"/>
          </p:nvPr>
        </p:nvSpPr>
        <p:spPr>
          <a:xfrm>
            <a:off x="2618174" y="3427487"/>
            <a:ext cx="7315200" cy="2615906"/>
          </a:xfrm>
          <a:noFill/>
        </p:spPr>
        <p:txBody>
          <a:bodyPr anchor="t">
            <a:normAutofit/>
          </a:bodyPr>
          <a:lstStyle/>
          <a:p>
            <a:r>
              <a:rPr lang="en-US" dirty="0">
                <a:solidFill>
                  <a:schemeClr val="bg1"/>
                </a:solidFill>
              </a:rPr>
              <a:t>Hamdah Alkindi  H00492795</a:t>
            </a:r>
          </a:p>
          <a:p>
            <a:r>
              <a:rPr lang="en-US" dirty="0">
                <a:solidFill>
                  <a:schemeClr val="bg1"/>
                </a:solidFill>
              </a:rPr>
              <a:t>Mariam Jasim  H00492025</a:t>
            </a:r>
          </a:p>
          <a:p>
            <a:r>
              <a:rPr lang="en-US" dirty="0">
                <a:solidFill>
                  <a:schemeClr val="bg1"/>
                </a:solidFill>
              </a:rPr>
              <a:t>Afra Almansoori H00496444</a:t>
            </a:r>
          </a:p>
          <a:p>
            <a:r>
              <a:rPr lang="en-US" dirty="0">
                <a:solidFill>
                  <a:schemeClr val="bg1"/>
                </a:solidFill>
              </a:rPr>
              <a:t>Shaimaa Abdulrahman H00532150</a:t>
            </a:r>
          </a:p>
        </p:txBody>
      </p:sp>
    </p:spTree>
    <p:extLst>
      <p:ext uri="{BB962C8B-B14F-4D97-AF65-F5344CB8AC3E}">
        <p14:creationId xmlns:p14="http://schemas.microsoft.com/office/powerpoint/2010/main" val="3918185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D654D-654F-A783-10E1-39ECF26D5B26}"/>
              </a:ext>
            </a:extLst>
          </p:cNvPr>
          <p:cNvSpPr>
            <a:spLocks noGrp="1"/>
          </p:cNvSpPr>
          <p:nvPr>
            <p:ph type="title"/>
          </p:nvPr>
        </p:nvSpPr>
        <p:spPr/>
        <p:txBody>
          <a:bodyPr>
            <a:noAutofit/>
          </a:bodyPr>
          <a:lstStyle/>
          <a:p>
            <a:r>
              <a:rPr lang="en-US" sz="3600" u="sng" dirty="0">
                <a:hlinkClick r:id="rId2"/>
              </a:rPr>
              <a:t>https://github.com/h7amdahh/cancer_dataset_uae</a:t>
            </a:r>
            <a:r>
              <a:rPr lang="en-AE" sz="3600" dirty="0"/>
              <a:t> </a:t>
            </a:r>
            <a:br>
              <a:rPr lang="en-US" sz="3600" dirty="0"/>
            </a:br>
            <a:r>
              <a:rPr lang="en-US" sz="3600" dirty="0"/>
              <a:t> </a:t>
            </a:r>
            <a:br>
              <a:rPr lang="en-US" sz="3600" dirty="0"/>
            </a:br>
            <a:r>
              <a:rPr lang="en-US" sz="3600" u="sng" dirty="0">
                <a:hlinkClick r:id="rId3"/>
              </a:rPr>
              <a:t>https://www.kaggle.com/datasets</a:t>
            </a:r>
            <a:r>
              <a:rPr lang="en-AE" sz="3600" dirty="0"/>
              <a:t> </a:t>
            </a:r>
            <a:br>
              <a:rPr lang="en-US" sz="3600" dirty="0"/>
            </a:br>
            <a:r>
              <a:rPr lang="en-US" sz="3600" dirty="0"/>
              <a:t> </a:t>
            </a:r>
            <a:br>
              <a:rPr lang="en-US" sz="3600" dirty="0"/>
            </a:br>
            <a:endParaRPr lang="en-US" sz="3600" dirty="0"/>
          </a:p>
        </p:txBody>
      </p:sp>
    </p:spTree>
    <p:extLst>
      <p:ext uri="{BB962C8B-B14F-4D97-AF65-F5344CB8AC3E}">
        <p14:creationId xmlns:p14="http://schemas.microsoft.com/office/powerpoint/2010/main" val="1625746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ight Triangle 2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7D9887E-44C6-0A89-D396-52E0042D73CE}"/>
              </a:ext>
            </a:extLst>
          </p:cNvPr>
          <p:cNvSpPr txBox="1"/>
          <p:nvPr/>
        </p:nvSpPr>
        <p:spPr>
          <a:xfrm>
            <a:off x="1285240" y="2969469"/>
            <a:ext cx="8074815" cy="2800395"/>
          </a:xfrm>
          <a:prstGeom prst="rect">
            <a:avLst/>
          </a:prstGeom>
        </p:spPr>
        <p:txBody>
          <a:bodyPr vert="horz" lIns="91440" tIns="45720" rIns="91440" bIns="45720" rtlCol="0" anchor="t">
            <a:normAutofit/>
          </a:bodyPr>
          <a:lstStyle/>
          <a:p>
            <a:pPr algn="ctr">
              <a:lnSpc>
                <a:spcPct val="90000"/>
              </a:lnSpc>
              <a:spcAft>
                <a:spcPts val="600"/>
              </a:spcAft>
            </a:pPr>
            <a:r>
              <a:rPr lang="en-US" sz="2200" dirty="0"/>
              <a:t>We are going to introduce our project, which is based on working with a real dataset, machine learning model application, and utilizing Git and GitHub for teamwork today. The entire group collaborated in getting familiar with the data, writing the code, and producing each deliverable little by little. In this presentation, our aim is to display our learning outcomes, the application of techniques, and the results we got during the project.</a:t>
            </a:r>
          </a:p>
          <a:p>
            <a:pPr indent="-228600">
              <a:lnSpc>
                <a:spcPct val="90000"/>
              </a:lnSpc>
              <a:spcAft>
                <a:spcPts val="600"/>
              </a:spcAft>
              <a:buFont typeface="Arial" panose="020B0604020202020204" pitchFamily="34" charset="0"/>
              <a:buChar char="•"/>
            </a:pPr>
            <a:endParaRPr lang="en-US" sz="2200" dirty="0"/>
          </a:p>
        </p:txBody>
      </p:sp>
    </p:spTree>
    <p:extLst>
      <p:ext uri="{BB962C8B-B14F-4D97-AF65-F5344CB8AC3E}">
        <p14:creationId xmlns:p14="http://schemas.microsoft.com/office/powerpoint/2010/main" val="272558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ight Triangle 3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D2B4D5-14F0-1A69-4EA5-390AC95400C8}"/>
              </a:ext>
            </a:extLst>
          </p:cNvPr>
          <p:cNvSpPr>
            <a:spLocks noGrp="1"/>
          </p:cNvSpPr>
          <p:nvPr>
            <p:ph type="ctrTitle"/>
          </p:nvPr>
        </p:nvSpPr>
        <p:spPr>
          <a:xfrm>
            <a:off x="1285241" y="1008993"/>
            <a:ext cx="9231410" cy="3542045"/>
          </a:xfrm>
        </p:spPr>
        <p:txBody>
          <a:bodyPr anchor="b">
            <a:normAutofit/>
          </a:bodyPr>
          <a:lstStyle/>
          <a:p>
            <a:pPr algn="l"/>
            <a:r>
              <a:rPr lang="en-US" sz="11500" b="1" dirty="0"/>
              <a:t>Derivable 1 </a:t>
            </a:r>
            <a:endParaRPr lang="en-US" sz="11500" dirty="0"/>
          </a:p>
        </p:txBody>
      </p:sp>
    </p:spTree>
    <p:extLst>
      <p:ext uri="{BB962C8B-B14F-4D97-AF65-F5344CB8AC3E}">
        <p14:creationId xmlns:p14="http://schemas.microsoft.com/office/powerpoint/2010/main" val="153562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1D87EF-653B-882E-6A8E-3C80F0FC3E2D}"/>
              </a:ext>
            </a:extLst>
          </p:cNvPr>
          <p:cNvSpPr>
            <a:spLocks noGrp="1"/>
          </p:cNvSpPr>
          <p:nvPr>
            <p:ph type="title"/>
          </p:nvPr>
        </p:nvSpPr>
        <p:spPr>
          <a:xfrm>
            <a:off x="1043631" y="809898"/>
            <a:ext cx="9942716" cy="1554480"/>
          </a:xfrm>
        </p:spPr>
        <p:txBody>
          <a:bodyPr anchor="ctr">
            <a:normAutofit/>
          </a:bodyPr>
          <a:lstStyle/>
          <a:p>
            <a:r>
              <a:rPr lang="en-US" sz="4800" dirty="0"/>
              <a:t>Hamdah</a:t>
            </a:r>
          </a:p>
        </p:txBody>
      </p:sp>
      <p:sp>
        <p:nvSpPr>
          <p:cNvPr id="3" name="Content Placeholder 2">
            <a:extLst>
              <a:ext uri="{FF2B5EF4-FFF2-40B4-BE49-F238E27FC236}">
                <a16:creationId xmlns:a16="http://schemas.microsoft.com/office/drawing/2014/main" id="{4366AFBE-F5CD-B9EF-74E7-E39221145192}"/>
              </a:ext>
            </a:extLst>
          </p:cNvPr>
          <p:cNvSpPr>
            <a:spLocks noGrp="1"/>
          </p:cNvSpPr>
          <p:nvPr>
            <p:ph idx="1"/>
          </p:nvPr>
        </p:nvSpPr>
        <p:spPr>
          <a:xfrm>
            <a:off x="1045028" y="3017522"/>
            <a:ext cx="9941319" cy="3124658"/>
          </a:xfrm>
        </p:spPr>
        <p:txBody>
          <a:bodyPr anchor="ctr">
            <a:normAutofit/>
          </a:bodyPr>
          <a:lstStyle/>
          <a:p>
            <a:r>
              <a:rPr lang="en-US" sz="2400" dirty="0"/>
              <a:t>As a group, we collaborated to create and execute the Python code for this aspect of the project. The functions </a:t>
            </a:r>
            <a:r>
              <a:rPr lang="en-US" sz="2400" dirty="0" err="1"/>
              <a:t>descriptive_stats</a:t>
            </a:r>
            <a:r>
              <a:rPr lang="en-US" sz="2400" dirty="0"/>
              <a:t>() and sampling were among those that we implemented. Our collaboration boosted our comprehension of the results as each member unpacked a portion they grasped. Code execution was a demonstration of how the statistics get calculated and how the dataset is altered post-sampling. In short, this part has been a great source of both our teamwork and Python skill confidence.</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521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CF5370-4C8B-333E-DD31-56D534EFFE4B}"/>
              </a:ext>
            </a:extLst>
          </p:cNvPr>
          <p:cNvSpPr>
            <a:spLocks noGrp="1"/>
          </p:cNvSpPr>
          <p:nvPr>
            <p:ph type="title"/>
          </p:nvPr>
        </p:nvSpPr>
        <p:spPr>
          <a:xfrm>
            <a:off x="1043631" y="809898"/>
            <a:ext cx="9942716" cy="1554480"/>
          </a:xfrm>
        </p:spPr>
        <p:txBody>
          <a:bodyPr anchor="ctr">
            <a:normAutofit/>
          </a:bodyPr>
          <a:lstStyle/>
          <a:p>
            <a:r>
              <a:rPr lang="en-US" sz="4800" dirty="0"/>
              <a:t>Mariam</a:t>
            </a:r>
          </a:p>
        </p:txBody>
      </p:sp>
      <p:sp>
        <p:nvSpPr>
          <p:cNvPr id="3" name="Content Placeholder 2">
            <a:extLst>
              <a:ext uri="{FF2B5EF4-FFF2-40B4-BE49-F238E27FC236}">
                <a16:creationId xmlns:a16="http://schemas.microsoft.com/office/drawing/2014/main" id="{1E55B595-A125-B290-6980-A86C1C732F9C}"/>
              </a:ext>
            </a:extLst>
          </p:cNvPr>
          <p:cNvSpPr>
            <a:spLocks noGrp="1"/>
          </p:cNvSpPr>
          <p:nvPr>
            <p:ph idx="1"/>
          </p:nvPr>
        </p:nvSpPr>
        <p:spPr>
          <a:xfrm>
            <a:off x="1045028" y="3017522"/>
            <a:ext cx="9941319" cy="3124658"/>
          </a:xfrm>
        </p:spPr>
        <p:txBody>
          <a:bodyPr anchor="ctr">
            <a:normAutofit/>
          </a:bodyPr>
          <a:lstStyle/>
          <a:p>
            <a:r>
              <a:rPr lang="en-US" sz="2400" dirty="0"/>
              <a:t>Our group helped each other with the code in this section. We used Python to read the data, take samples, and calculate basic statistics. Sometimes the code gave errors, but we fixed them together. This made the work easier and clearer for everyone. By doing the coding as a team, we learned more about data analysis and how to understand the output.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367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FAFFE-4FAF-207D-8506-C3BB15450BBF}"/>
              </a:ext>
            </a:extLst>
          </p:cNvPr>
          <p:cNvSpPr>
            <a:spLocks noGrp="1"/>
          </p:cNvSpPr>
          <p:nvPr>
            <p:ph type="title"/>
          </p:nvPr>
        </p:nvSpPr>
        <p:spPr>
          <a:xfrm>
            <a:off x="1043631" y="809898"/>
            <a:ext cx="9942716" cy="1554480"/>
          </a:xfrm>
        </p:spPr>
        <p:txBody>
          <a:bodyPr anchor="ctr">
            <a:normAutofit/>
          </a:bodyPr>
          <a:lstStyle/>
          <a:p>
            <a:r>
              <a:rPr lang="en-US" sz="4800"/>
              <a:t>Afra </a:t>
            </a:r>
          </a:p>
        </p:txBody>
      </p:sp>
      <p:sp>
        <p:nvSpPr>
          <p:cNvPr id="3" name="Content Placeholder 2">
            <a:extLst>
              <a:ext uri="{FF2B5EF4-FFF2-40B4-BE49-F238E27FC236}">
                <a16:creationId xmlns:a16="http://schemas.microsoft.com/office/drawing/2014/main" id="{57272A13-6A14-955E-CF48-157335B75B87}"/>
              </a:ext>
            </a:extLst>
          </p:cNvPr>
          <p:cNvSpPr>
            <a:spLocks noGrp="1"/>
          </p:cNvSpPr>
          <p:nvPr>
            <p:ph idx="1"/>
          </p:nvPr>
        </p:nvSpPr>
        <p:spPr>
          <a:xfrm>
            <a:off x="1045028" y="3017522"/>
            <a:ext cx="9941319" cy="3124658"/>
          </a:xfrm>
        </p:spPr>
        <p:txBody>
          <a:bodyPr anchor="ctr">
            <a:normAutofit/>
          </a:bodyPr>
          <a:lstStyle/>
          <a:p>
            <a:r>
              <a:rPr lang="en-US" sz="2400" dirty="0"/>
              <a:t>In this task, our group used simple Python code to explore the dataset. We worked on sampling, descriptive statistics, and printing results using pandas. Each member tried running the code and shared their understanding with the group. This teamwork helped us learn faster and understand why each step in the code is important. The experience also improved our communication and problem-solving skills.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824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BBEEF9-F97B-C0CC-D7AA-EACFE162548A}"/>
              </a:ext>
            </a:extLst>
          </p:cNvPr>
          <p:cNvSpPr>
            <a:spLocks noGrp="1"/>
          </p:cNvSpPr>
          <p:nvPr>
            <p:ph type="title"/>
          </p:nvPr>
        </p:nvSpPr>
        <p:spPr>
          <a:xfrm>
            <a:off x="1043631" y="809898"/>
            <a:ext cx="9942716" cy="1554480"/>
          </a:xfrm>
        </p:spPr>
        <p:txBody>
          <a:bodyPr anchor="ctr">
            <a:normAutofit/>
          </a:bodyPr>
          <a:lstStyle/>
          <a:p>
            <a:r>
              <a:rPr lang="en-US" sz="4800" dirty="0"/>
              <a:t>Shaimaa</a:t>
            </a:r>
          </a:p>
        </p:txBody>
      </p:sp>
      <p:sp>
        <p:nvSpPr>
          <p:cNvPr id="3" name="Content Placeholder 2">
            <a:extLst>
              <a:ext uri="{FF2B5EF4-FFF2-40B4-BE49-F238E27FC236}">
                <a16:creationId xmlns:a16="http://schemas.microsoft.com/office/drawing/2014/main" id="{CF7256AD-4388-85A4-DA5C-D906E3017E82}"/>
              </a:ext>
            </a:extLst>
          </p:cNvPr>
          <p:cNvSpPr>
            <a:spLocks noGrp="1"/>
          </p:cNvSpPr>
          <p:nvPr>
            <p:ph idx="1"/>
          </p:nvPr>
        </p:nvSpPr>
        <p:spPr>
          <a:xfrm>
            <a:off x="1045028" y="3017522"/>
            <a:ext cx="9941319" cy="3124658"/>
          </a:xfrm>
        </p:spPr>
        <p:txBody>
          <a:bodyPr anchor="ctr">
            <a:normAutofit/>
          </a:bodyPr>
          <a:lstStyle/>
          <a:p>
            <a:r>
              <a:rPr lang="en-US" sz="2400" dirty="0"/>
              <a:t>As a group, we used Python code to analyze the data in this part. We supported each other with the coding steps and explained the output together. Using the code helped us understand the dataset better and working as a team made the task much easier. This section helped us build both technical skills and teamwork skills.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451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9C3BC8-D1FA-F8B9-82A8-1DA454E9362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A7D0B0-AAFF-6FDE-0D8C-1F782AA681A9}"/>
              </a:ext>
            </a:extLst>
          </p:cNvPr>
          <p:cNvSpPr>
            <a:spLocks noGrp="1"/>
          </p:cNvSpPr>
          <p:nvPr>
            <p:ph type="ctrTitle"/>
          </p:nvPr>
        </p:nvSpPr>
        <p:spPr>
          <a:xfrm>
            <a:off x="1285241" y="1008993"/>
            <a:ext cx="9231410" cy="3542045"/>
          </a:xfrm>
        </p:spPr>
        <p:txBody>
          <a:bodyPr anchor="b">
            <a:normAutofit/>
          </a:bodyPr>
          <a:lstStyle/>
          <a:p>
            <a:pPr algn="l"/>
            <a:r>
              <a:rPr lang="en-US" sz="11500" b="1"/>
              <a:t>Derivable 2</a:t>
            </a:r>
            <a:endParaRPr lang="en-US" sz="11500"/>
          </a:p>
        </p:txBody>
      </p:sp>
    </p:spTree>
    <p:extLst>
      <p:ext uri="{BB962C8B-B14F-4D97-AF65-F5344CB8AC3E}">
        <p14:creationId xmlns:p14="http://schemas.microsoft.com/office/powerpoint/2010/main" val="223989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DDF94-F50C-C450-2AD0-745A6182D5B0}"/>
              </a:ext>
            </a:extLst>
          </p:cNvPr>
          <p:cNvSpPr>
            <a:spLocks noGrp="1"/>
          </p:cNvSpPr>
          <p:nvPr>
            <p:ph type="title"/>
          </p:nvPr>
        </p:nvSpPr>
        <p:spPr>
          <a:xfrm>
            <a:off x="1043631" y="809898"/>
            <a:ext cx="9942716" cy="1554480"/>
          </a:xfrm>
        </p:spPr>
        <p:txBody>
          <a:bodyPr anchor="ctr">
            <a:normAutofit/>
          </a:bodyPr>
          <a:lstStyle/>
          <a:p>
            <a:r>
              <a:rPr lang="en-US" sz="4800"/>
              <a:t>Hamdah</a:t>
            </a:r>
          </a:p>
        </p:txBody>
      </p:sp>
      <p:sp>
        <p:nvSpPr>
          <p:cNvPr id="3" name="Content Placeholder 2">
            <a:extLst>
              <a:ext uri="{FF2B5EF4-FFF2-40B4-BE49-F238E27FC236}">
                <a16:creationId xmlns:a16="http://schemas.microsoft.com/office/drawing/2014/main" id="{0377EDDB-69C0-6BDE-7BFB-62BC2CA37BDA}"/>
              </a:ext>
            </a:extLst>
          </p:cNvPr>
          <p:cNvSpPr>
            <a:spLocks noGrp="1"/>
          </p:cNvSpPr>
          <p:nvPr>
            <p:ph idx="1"/>
          </p:nvPr>
        </p:nvSpPr>
        <p:spPr>
          <a:xfrm>
            <a:off x="1045028" y="3017522"/>
            <a:ext cx="9941319" cy="3124658"/>
          </a:xfrm>
        </p:spPr>
        <p:txBody>
          <a:bodyPr anchor="ctr">
            <a:normAutofit fontScale="92500" lnSpcReduction="10000"/>
          </a:bodyPr>
          <a:lstStyle/>
          <a:p>
            <a:r>
              <a:rPr lang="en-US" dirty="0"/>
              <a:t>In Deliverable 2, the collaboration among our group members made it possible to execute the Python code for descriptive analysis. We utilized some methods to calculate the mean, IQR, skewness, and frequency tables. Cooperation among us enabled us to get a grasp of the value's meaning and the code's operation in a stepwise manner. The code execution allowed us to visualize the dataset's patterns more clearly. Overall, this section was beneficial in upgrading our capabilities in output reading and comprehension of fundamental data statistics.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0280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53719-0027-C915-21B0-B063749B01DE}"/>
              </a:ext>
            </a:extLst>
          </p:cNvPr>
          <p:cNvSpPr>
            <a:spLocks noGrp="1"/>
          </p:cNvSpPr>
          <p:nvPr>
            <p:ph type="title"/>
          </p:nvPr>
        </p:nvSpPr>
        <p:spPr>
          <a:xfrm>
            <a:off x="1043631" y="809898"/>
            <a:ext cx="9942716" cy="1554480"/>
          </a:xfrm>
        </p:spPr>
        <p:txBody>
          <a:bodyPr anchor="ctr">
            <a:normAutofit/>
          </a:bodyPr>
          <a:lstStyle/>
          <a:p>
            <a:r>
              <a:rPr lang="en-US" sz="4800"/>
              <a:t>Maraim </a:t>
            </a:r>
          </a:p>
        </p:txBody>
      </p:sp>
      <p:sp>
        <p:nvSpPr>
          <p:cNvPr id="3" name="Content Placeholder 2">
            <a:extLst>
              <a:ext uri="{FF2B5EF4-FFF2-40B4-BE49-F238E27FC236}">
                <a16:creationId xmlns:a16="http://schemas.microsoft.com/office/drawing/2014/main" id="{5317C4CE-628E-059E-FA47-DEB1C46F7A68}"/>
              </a:ext>
            </a:extLst>
          </p:cNvPr>
          <p:cNvSpPr>
            <a:spLocks noGrp="1"/>
          </p:cNvSpPr>
          <p:nvPr>
            <p:ph idx="1"/>
          </p:nvPr>
        </p:nvSpPr>
        <p:spPr>
          <a:xfrm>
            <a:off x="1045028" y="3017522"/>
            <a:ext cx="9941319" cy="3124658"/>
          </a:xfrm>
        </p:spPr>
        <p:txBody>
          <a:bodyPr anchor="ctr">
            <a:normAutofit lnSpcReduction="10000"/>
          </a:bodyPr>
          <a:lstStyle/>
          <a:p>
            <a:r>
              <a:rPr lang="en-US" dirty="0"/>
              <a:t>For Deliverable 2, Python was employed to generate random samples and derive descriptive statistics. Initially, a few lines of code produced errors, yet the group collectively resolved these bugs. The utilization of sampling code facilitated our grasp of data alteration when only a portion of the dataset is chosen. The collaboration made the task effortless and allowed everyone to realize the bond between sampling and statistics.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140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123B64-A948-A27F-4050-8751560B7384}"/>
              </a:ext>
            </a:extLst>
          </p:cNvPr>
          <p:cNvSpPr>
            <a:spLocks noGrp="1"/>
          </p:cNvSpPr>
          <p:nvPr>
            <p:ph type="title"/>
          </p:nvPr>
        </p:nvSpPr>
        <p:spPr>
          <a:xfrm>
            <a:off x="1043631" y="809898"/>
            <a:ext cx="9942716" cy="1554480"/>
          </a:xfrm>
        </p:spPr>
        <p:txBody>
          <a:bodyPr anchor="ctr">
            <a:normAutofit/>
          </a:bodyPr>
          <a:lstStyle/>
          <a:p>
            <a:r>
              <a:rPr lang="en-US" sz="4800"/>
              <a:t>Afra </a:t>
            </a:r>
          </a:p>
        </p:txBody>
      </p:sp>
      <p:sp>
        <p:nvSpPr>
          <p:cNvPr id="3" name="Content Placeholder 2">
            <a:extLst>
              <a:ext uri="{FF2B5EF4-FFF2-40B4-BE49-F238E27FC236}">
                <a16:creationId xmlns:a16="http://schemas.microsoft.com/office/drawing/2014/main" id="{C258AC51-DC35-C86C-D816-B437BC544247}"/>
              </a:ext>
            </a:extLst>
          </p:cNvPr>
          <p:cNvSpPr>
            <a:spLocks noGrp="1"/>
          </p:cNvSpPr>
          <p:nvPr>
            <p:ph idx="1"/>
          </p:nvPr>
        </p:nvSpPr>
        <p:spPr>
          <a:xfrm>
            <a:off x="1045028" y="3017522"/>
            <a:ext cx="9941319" cy="3124658"/>
          </a:xfrm>
        </p:spPr>
        <p:txBody>
          <a:bodyPr anchor="ctr">
            <a:normAutofit lnSpcReduction="10000"/>
          </a:bodyPr>
          <a:lstStyle/>
          <a:p>
            <a:r>
              <a:rPr lang="en-US" dirty="0"/>
              <a:t>In Deliverable 2, the distribution of coding tasks was conducted by our team. The coder wrote the code; the checker reviewed the results and the rest assisted in interpreting the statistics. Our totaling and the use of Python libraries like pandas and matplotlib made data visible. Understanding how descriptive analysis worked with large datasets was a team effort. The whole process was made easier with teamwork.</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52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30D3AF-EAA1-D7AB-BC20-E3BDF5EDAD61}"/>
              </a:ext>
            </a:extLst>
          </p:cNvPr>
          <p:cNvSpPr>
            <a:spLocks noGrp="1"/>
          </p:cNvSpPr>
          <p:nvPr>
            <p:ph type="title"/>
          </p:nvPr>
        </p:nvSpPr>
        <p:spPr>
          <a:xfrm>
            <a:off x="1043631" y="809898"/>
            <a:ext cx="9942716" cy="1554480"/>
          </a:xfrm>
        </p:spPr>
        <p:txBody>
          <a:bodyPr anchor="ctr">
            <a:normAutofit/>
          </a:bodyPr>
          <a:lstStyle/>
          <a:p>
            <a:r>
              <a:rPr lang="en-US" sz="4800"/>
              <a:t>Shaimaa </a:t>
            </a:r>
          </a:p>
        </p:txBody>
      </p:sp>
      <p:sp>
        <p:nvSpPr>
          <p:cNvPr id="3" name="Content Placeholder 2">
            <a:extLst>
              <a:ext uri="{FF2B5EF4-FFF2-40B4-BE49-F238E27FC236}">
                <a16:creationId xmlns:a16="http://schemas.microsoft.com/office/drawing/2014/main" id="{A340A854-0FBC-4516-0E05-66CDB0FC5EFF}"/>
              </a:ext>
            </a:extLst>
          </p:cNvPr>
          <p:cNvSpPr>
            <a:spLocks noGrp="1"/>
          </p:cNvSpPr>
          <p:nvPr>
            <p:ph idx="1"/>
          </p:nvPr>
        </p:nvSpPr>
        <p:spPr>
          <a:xfrm>
            <a:off x="1045028" y="3017522"/>
            <a:ext cx="9941319" cy="3124658"/>
          </a:xfrm>
        </p:spPr>
        <p:txBody>
          <a:bodyPr anchor="ctr">
            <a:normAutofit lnSpcReduction="10000"/>
          </a:bodyPr>
          <a:lstStyle/>
          <a:p>
            <a:r>
              <a:rPr lang="en-US" dirty="0"/>
              <a:t>In Deliverable 2, the distribution of coding tasks was conducted by our team. The coder wrote the code; the checker reviewed the results and the rest assisted in interpreting the statistics. Our totaling and the use of Python libraries like pandas and matplotlib made data visible. Understanding how descriptive analysis worked with large datasets was a team effort. The whole process was made easier with teamwork.</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936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158408-687A-4F97-FCF2-CD38C97E952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F97E39-F173-4AC2-18F0-53B82516F6EA}"/>
              </a:ext>
            </a:extLst>
          </p:cNvPr>
          <p:cNvSpPr>
            <a:spLocks noGrp="1"/>
          </p:cNvSpPr>
          <p:nvPr>
            <p:ph type="ctrTitle"/>
          </p:nvPr>
        </p:nvSpPr>
        <p:spPr>
          <a:xfrm>
            <a:off x="1285241" y="1008993"/>
            <a:ext cx="9231410" cy="3542045"/>
          </a:xfrm>
        </p:spPr>
        <p:txBody>
          <a:bodyPr anchor="b">
            <a:normAutofit/>
          </a:bodyPr>
          <a:lstStyle/>
          <a:p>
            <a:pPr algn="l"/>
            <a:r>
              <a:rPr lang="en-US" sz="11500" b="1"/>
              <a:t>Derivable 3</a:t>
            </a:r>
            <a:endParaRPr lang="en-US" sz="11500"/>
          </a:p>
        </p:txBody>
      </p:sp>
    </p:spTree>
    <p:extLst>
      <p:ext uri="{BB962C8B-B14F-4D97-AF65-F5344CB8AC3E}">
        <p14:creationId xmlns:p14="http://schemas.microsoft.com/office/powerpoint/2010/main" val="84053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120909-E019-3141-4913-190B7FC62DC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FDAC8E-FE19-4882-021C-EFA9D4B7AB37}"/>
              </a:ext>
            </a:extLst>
          </p:cNvPr>
          <p:cNvSpPr>
            <a:spLocks noGrp="1"/>
          </p:cNvSpPr>
          <p:nvPr>
            <p:ph type="title"/>
          </p:nvPr>
        </p:nvSpPr>
        <p:spPr>
          <a:xfrm>
            <a:off x="1043631" y="809898"/>
            <a:ext cx="9942716" cy="1554480"/>
          </a:xfrm>
        </p:spPr>
        <p:txBody>
          <a:bodyPr anchor="ctr">
            <a:normAutofit/>
          </a:bodyPr>
          <a:lstStyle/>
          <a:p>
            <a:r>
              <a:rPr lang="en-US" sz="4800"/>
              <a:t>Hamdah</a:t>
            </a:r>
          </a:p>
        </p:txBody>
      </p:sp>
      <p:sp>
        <p:nvSpPr>
          <p:cNvPr id="3" name="Content Placeholder 2">
            <a:extLst>
              <a:ext uri="{FF2B5EF4-FFF2-40B4-BE49-F238E27FC236}">
                <a16:creationId xmlns:a16="http://schemas.microsoft.com/office/drawing/2014/main" id="{DDCA648C-C626-A3E3-9595-442A3DC4225F}"/>
              </a:ext>
            </a:extLst>
          </p:cNvPr>
          <p:cNvSpPr>
            <a:spLocks noGrp="1"/>
          </p:cNvSpPr>
          <p:nvPr>
            <p:ph idx="1"/>
          </p:nvPr>
        </p:nvSpPr>
        <p:spPr>
          <a:xfrm>
            <a:off x="1045028" y="3017522"/>
            <a:ext cx="9941319" cy="3124658"/>
          </a:xfrm>
        </p:spPr>
        <p:txBody>
          <a:bodyPr anchor="ctr">
            <a:normAutofit fontScale="92500"/>
          </a:bodyPr>
          <a:lstStyle/>
          <a:p>
            <a:r>
              <a:rPr lang="en-US" dirty="0"/>
              <a:t>Our group delivered clustering models based on K-Means and Hierarchical Clustering in this deliverable. We utilized parameters such as Age and Weight and executed the code to observe the creation of clusters. All the members of the team expressed their interpretation of the cluster diagram. The collaboration among us enabled us to discover the hidden patterns in the dataset and to see how the unsupervised learning method can group patients with similar characteristics.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3828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6AE185-1563-5581-5A40-657D70AAE7F2}"/>
              </a:ext>
            </a:extLst>
          </p:cNvPr>
          <p:cNvSpPr>
            <a:spLocks noGrp="1"/>
          </p:cNvSpPr>
          <p:nvPr>
            <p:ph type="title"/>
          </p:nvPr>
        </p:nvSpPr>
        <p:spPr>
          <a:xfrm>
            <a:off x="1043631" y="809898"/>
            <a:ext cx="9942716" cy="1554480"/>
          </a:xfrm>
        </p:spPr>
        <p:txBody>
          <a:bodyPr anchor="ctr">
            <a:normAutofit/>
          </a:bodyPr>
          <a:lstStyle/>
          <a:p>
            <a:r>
              <a:rPr lang="en-US" sz="4800"/>
              <a:t>Maraim</a:t>
            </a:r>
          </a:p>
        </p:txBody>
      </p:sp>
      <p:sp>
        <p:nvSpPr>
          <p:cNvPr id="3" name="Content Placeholder 2">
            <a:extLst>
              <a:ext uri="{FF2B5EF4-FFF2-40B4-BE49-F238E27FC236}">
                <a16:creationId xmlns:a16="http://schemas.microsoft.com/office/drawing/2014/main" id="{7855104F-BD6B-CC90-FB37-58C26DB5D3A4}"/>
              </a:ext>
            </a:extLst>
          </p:cNvPr>
          <p:cNvSpPr>
            <a:spLocks noGrp="1"/>
          </p:cNvSpPr>
          <p:nvPr>
            <p:ph idx="1"/>
          </p:nvPr>
        </p:nvSpPr>
        <p:spPr>
          <a:xfrm>
            <a:off x="1045028" y="3017522"/>
            <a:ext cx="9941319" cy="3124658"/>
          </a:xfrm>
        </p:spPr>
        <p:txBody>
          <a:bodyPr anchor="ctr">
            <a:normAutofit fontScale="92500"/>
          </a:bodyPr>
          <a:lstStyle/>
          <a:p>
            <a:r>
              <a:rPr lang="en-US" dirty="0"/>
              <a:t>In Deliverable 3, the Python code for the regression models was executed by our group together. The impact of Age and Height on Weight was analyzed using simple linear regression and multiple linear regression. Teamwork made it easier for us to grasp the concept of the slope, intercept, and R² score. The code running provided us with a better understanding of the way regression operates in actual data. This section developed our competencies in model building and output interpretation.</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961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D16733-ABEA-7FF3-7F8F-9708FF768630}"/>
              </a:ext>
            </a:extLst>
          </p:cNvPr>
          <p:cNvSpPr>
            <a:spLocks noGrp="1"/>
          </p:cNvSpPr>
          <p:nvPr>
            <p:ph type="title"/>
          </p:nvPr>
        </p:nvSpPr>
        <p:spPr>
          <a:xfrm>
            <a:off x="1043631" y="809898"/>
            <a:ext cx="9942716" cy="1554480"/>
          </a:xfrm>
        </p:spPr>
        <p:txBody>
          <a:bodyPr anchor="ctr">
            <a:normAutofit/>
          </a:bodyPr>
          <a:lstStyle/>
          <a:p>
            <a:r>
              <a:rPr lang="en-US" sz="4800"/>
              <a:t>Afra </a:t>
            </a:r>
          </a:p>
        </p:txBody>
      </p:sp>
      <p:sp>
        <p:nvSpPr>
          <p:cNvPr id="3" name="Content Placeholder 2">
            <a:extLst>
              <a:ext uri="{FF2B5EF4-FFF2-40B4-BE49-F238E27FC236}">
                <a16:creationId xmlns:a16="http://schemas.microsoft.com/office/drawing/2014/main" id="{E4955673-9824-F8A7-CAC7-5301C69C8FF5}"/>
              </a:ext>
            </a:extLst>
          </p:cNvPr>
          <p:cNvSpPr>
            <a:spLocks noGrp="1"/>
          </p:cNvSpPr>
          <p:nvPr>
            <p:ph idx="1"/>
          </p:nvPr>
        </p:nvSpPr>
        <p:spPr>
          <a:xfrm>
            <a:off x="1045028" y="3017522"/>
            <a:ext cx="9941319" cy="3124658"/>
          </a:xfrm>
        </p:spPr>
        <p:txBody>
          <a:bodyPr anchor="ctr">
            <a:normAutofit fontScale="92500"/>
          </a:bodyPr>
          <a:lstStyle/>
          <a:p>
            <a:r>
              <a:rPr lang="en-US" dirty="0"/>
              <a:t>Deliverable 3 involved the development of a classifier model using Python for the purpose of predicting the Outcome. The model was trained by applying label encoding and variable with Logistic Regression through Age, Gender, Cancer Stage, and Weight. The entire team supported each other in debugging the code and interpreting the predictions. Collaboration made it more convenient to grasp the working of machine-learning models in terms of their learning from data and making predictions.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074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9CB5E-72BC-3378-7E27-EB5FB2B4CD7D}"/>
              </a:ext>
            </a:extLst>
          </p:cNvPr>
          <p:cNvSpPr>
            <a:spLocks noGrp="1"/>
          </p:cNvSpPr>
          <p:nvPr>
            <p:ph type="title"/>
          </p:nvPr>
        </p:nvSpPr>
        <p:spPr>
          <a:xfrm>
            <a:off x="1043631" y="809898"/>
            <a:ext cx="9942716" cy="1554480"/>
          </a:xfrm>
        </p:spPr>
        <p:txBody>
          <a:bodyPr anchor="ctr">
            <a:normAutofit/>
          </a:bodyPr>
          <a:lstStyle/>
          <a:p>
            <a:r>
              <a:rPr lang="en-US" sz="4800"/>
              <a:t>Shaimaa</a:t>
            </a:r>
          </a:p>
        </p:txBody>
      </p:sp>
      <p:sp>
        <p:nvSpPr>
          <p:cNvPr id="3" name="Content Placeholder 2">
            <a:extLst>
              <a:ext uri="{FF2B5EF4-FFF2-40B4-BE49-F238E27FC236}">
                <a16:creationId xmlns:a16="http://schemas.microsoft.com/office/drawing/2014/main" id="{1E041908-C3BA-8F43-5066-9CD67AB7332E}"/>
              </a:ext>
            </a:extLst>
          </p:cNvPr>
          <p:cNvSpPr>
            <a:spLocks noGrp="1"/>
          </p:cNvSpPr>
          <p:nvPr>
            <p:ph idx="1"/>
          </p:nvPr>
        </p:nvSpPr>
        <p:spPr>
          <a:xfrm>
            <a:off x="1045028" y="3017522"/>
            <a:ext cx="9941319" cy="3124658"/>
          </a:xfrm>
        </p:spPr>
        <p:txBody>
          <a:bodyPr anchor="ctr">
            <a:normAutofit/>
          </a:bodyPr>
          <a:lstStyle/>
          <a:p>
            <a:r>
              <a:rPr lang="en-US" dirty="0"/>
              <a:t>During the third deliverable, the group wrote Python code for developing regression, classification, and clustering models. We were coding together, and each clarified the results of the others as a team. This enabled us to grasp the functioning of machine-learning models and the interpretation of their outputs. Collaborative effort not only made the tasks simpler but also enhanced our technical skills.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6010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BADA67-2E6A-AB4F-13E0-2AECF7C5062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378663-7A3C-FDBD-E9FD-5099C5209611}"/>
              </a:ext>
            </a:extLst>
          </p:cNvPr>
          <p:cNvSpPr>
            <a:spLocks noGrp="1"/>
          </p:cNvSpPr>
          <p:nvPr>
            <p:ph type="ctrTitle"/>
          </p:nvPr>
        </p:nvSpPr>
        <p:spPr>
          <a:xfrm>
            <a:off x="1285241" y="1008993"/>
            <a:ext cx="9231410" cy="3542045"/>
          </a:xfrm>
        </p:spPr>
        <p:txBody>
          <a:bodyPr anchor="b">
            <a:normAutofit/>
          </a:bodyPr>
          <a:lstStyle/>
          <a:p>
            <a:pPr algn="l"/>
            <a:r>
              <a:rPr lang="en-US" sz="11500" b="1"/>
              <a:t>Derivable 4</a:t>
            </a:r>
            <a:endParaRPr lang="en-US" sz="11500"/>
          </a:p>
        </p:txBody>
      </p:sp>
    </p:spTree>
    <p:extLst>
      <p:ext uri="{BB962C8B-B14F-4D97-AF65-F5344CB8AC3E}">
        <p14:creationId xmlns:p14="http://schemas.microsoft.com/office/powerpoint/2010/main" val="25956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62330-4E42-6670-C583-D12C4DD8138C}"/>
              </a:ext>
            </a:extLst>
          </p:cNvPr>
          <p:cNvSpPr>
            <a:spLocks noGrp="1"/>
          </p:cNvSpPr>
          <p:nvPr>
            <p:ph type="title"/>
          </p:nvPr>
        </p:nvSpPr>
        <p:spPr>
          <a:xfrm>
            <a:off x="1043631" y="809898"/>
            <a:ext cx="9942716" cy="1554480"/>
          </a:xfrm>
        </p:spPr>
        <p:txBody>
          <a:bodyPr anchor="ctr">
            <a:normAutofit/>
          </a:bodyPr>
          <a:lstStyle/>
          <a:p>
            <a:r>
              <a:rPr lang="en-US" sz="4800"/>
              <a:t>Haamdah </a:t>
            </a:r>
          </a:p>
        </p:txBody>
      </p:sp>
      <p:sp>
        <p:nvSpPr>
          <p:cNvPr id="3" name="Content Placeholder 2">
            <a:extLst>
              <a:ext uri="{FF2B5EF4-FFF2-40B4-BE49-F238E27FC236}">
                <a16:creationId xmlns:a16="http://schemas.microsoft.com/office/drawing/2014/main" id="{CF0304FB-655C-AEC0-7F77-293C7A33DF48}"/>
              </a:ext>
            </a:extLst>
          </p:cNvPr>
          <p:cNvSpPr>
            <a:spLocks noGrp="1"/>
          </p:cNvSpPr>
          <p:nvPr>
            <p:ph idx="1"/>
          </p:nvPr>
        </p:nvSpPr>
        <p:spPr>
          <a:xfrm>
            <a:off x="1045028" y="3017522"/>
            <a:ext cx="9941319" cy="3124658"/>
          </a:xfrm>
        </p:spPr>
        <p:txBody>
          <a:bodyPr anchor="ctr">
            <a:normAutofit fontScale="92500" lnSpcReduction="10000"/>
          </a:bodyPr>
          <a:lstStyle/>
          <a:p>
            <a:r>
              <a:rPr lang="en-US" dirty="0"/>
              <a:t>Our team collaborated each one by creating a GitHub repository and uploading all project files in Deliverable 4. We swept through these learning sessions as a group, assisting each other in understanding how to install Git, link it to GitHub, and structure the directories neatly. The implementation of commands of Git was a hands-on training of how version controlling operates in real scenarios. The teamwork made it all less cumbersome and at the same time we got to know how online code management is done by teams.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582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B53EB8-0936-C24A-9C19-0CA95ED1E4D7}"/>
              </a:ext>
            </a:extLst>
          </p:cNvPr>
          <p:cNvSpPr>
            <a:spLocks noGrp="1"/>
          </p:cNvSpPr>
          <p:nvPr>
            <p:ph type="title"/>
          </p:nvPr>
        </p:nvSpPr>
        <p:spPr>
          <a:xfrm>
            <a:off x="1043631" y="809898"/>
            <a:ext cx="9942716" cy="1554480"/>
          </a:xfrm>
        </p:spPr>
        <p:txBody>
          <a:bodyPr anchor="ctr">
            <a:normAutofit/>
          </a:bodyPr>
          <a:lstStyle/>
          <a:p>
            <a:r>
              <a:rPr lang="en-US" sz="4800"/>
              <a:t>Maraim</a:t>
            </a:r>
          </a:p>
        </p:txBody>
      </p:sp>
      <p:sp>
        <p:nvSpPr>
          <p:cNvPr id="3" name="Content Placeholder 2">
            <a:extLst>
              <a:ext uri="{FF2B5EF4-FFF2-40B4-BE49-F238E27FC236}">
                <a16:creationId xmlns:a16="http://schemas.microsoft.com/office/drawing/2014/main" id="{A4406C71-4731-6313-0ED4-4A95088C20CB}"/>
              </a:ext>
            </a:extLst>
          </p:cNvPr>
          <p:cNvSpPr>
            <a:spLocks noGrp="1"/>
          </p:cNvSpPr>
          <p:nvPr>
            <p:ph idx="1"/>
          </p:nvPr>
        </p:nvSpPr>
        <p:spPr>
          <a:xfrm>
            <a:off x="1045028" y="3017522"/>
            <a:ext cx="9941319" cy="3124658"/>
          </a:xfrm>
        </p:spPr>
        <p:txBody>
          <a:bodyPr anchor="ctr">
            <a:normAutofit lnSpcReduction="10000"/>
          </a:bodyPr>
          <a:lstStyle/>
          <a:p>
            <a:r>
              <a:rPr lang="en-US" dirty="0"/>
              <a:t>In this deliverable, we managed to master the techniques of cloning the GitHub repository to our machines and using the commands pull and push. We collectively practiced the commands interchangeably, as a result, everybody was familiar with them. Occasionally, there were minor mistakes, but we rectified them as a group. Such collaboration was fruitful in that it enabled us to learn the accurate procedure and comprehend the transfer of files between Git and GitHub.</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3796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A916-0CF7-6AE4-A840-F2FBE366FD83}"/>
              </a:ext>
            </a:extLst>
          </p:cNvPr>
          <p:cNvSpPr>
            <a:spLocks noGrp="1"/>
          </p:cNvSpPr>
          <p:nvPr>
            <p:ph type="title"/>
          </p:nvPr>
        </p:nvSpPr>
        <p:spPr>
          <a:xfrm>
            <a:off x="1043631" y="809898"/>
            <a:ext cx="9942716" cy="1554480"/>
          </a:xfrm>
        </p:spPr>
        <p:txBody>
          <a:bodyPr anchor="ctr">
            <a:normAutofit/>
          </a:bodyPr>
          <a:lstStyle/>
          <a:p>
            <a:r>
              <a:rPr lang="en-US" sz="4800"/>
              <a:t>Afra </a:t>
            </a:r>
          </a:p>
        </p:txBody>
      </p:sp>
      <p:sp>
        <p:nvSpPr>
          <p:cNvPr id="3" name="Content Placeholder 2">
            <a:extLst>
              <a:ext uri="{FF2B5EF4-FFF2-40B4-BE49-F238E27FC236}">
                <a16:creationId xmlns:a16="http://schemas.microsoft.com/office/drawing/2014/main" id="{1573FCB3-985D-3AF3-1D89-7C2D653DED6F}"/>
              </a:ext>
            </a:extLst>
          </p:cNvPr>
          <p:cNvSpPr>
            <a:spLocks noGrp="1"/>
          </p:cNvSpPr>
          <p:nvPr>
            <p:ph idx="1"/>
          </p:nvPr>
        </p:nvSpPr>
        <p:spPr>
          <a:xfrm>
            <a:off x="1045028" y="3017522"/>
            <a:ext cx="9941319" cy="3124658"/>
          </a:xfrm>
        </p:spPr>
        <p:txBody>
          <a:bodyPr anchor="ctr">
            <a:normAutofit fontScale="92500" lnSpcReduction="10000"/>
          </a:bodyPr>
          <a:lstStyle/>
          <a:p>
            <a:r>
              <a:rPr lang="en-US" dirty="0"/>
              <a:t>In the fourth deliverable, the entire team made use of GitHub to deliver and modify the files related to the project. We were in touch with one another and assigned the different tasks in a way that every participant uploaded their respective contributions. Mastering the use of Git commands, we also got to know how the people in the field work together on one and the same project without the worry of files getting mixed up or lost. The whole process was a great help in enhancing our cooperation, planning, and tech skills.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650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1158F0-3F87-2C69-96B4-ED9718B510BE}"/>
              </a:ext>
            </a:extLst>
          </p:cNvPr>
          <p:cNvSpPr>
            <a:spLocks noGrp="1"/>
          </p:cNvSpPr>
          <p:nvPr>
            <p:ph type="title"/>
          </p:nvPr>
        </p:nvSpPr>
        <p:spPr>
          <a:xfrm>
            <a:off x="1043631" y="809898"/>
            <a:ext cx="9942716" cy="1554480"/>
          </a:xfrm>
        </p:spPr>
        <p:txBody>
          <a:bodyPr anchor="ctr">
            <a:normAutofit/>
          </a:bodyPr>
          <a:lstStyle/>
          <a:p>
            <a:r>
              <a:rPr lang="en-US" sz="4800"/>
              <a:t>Shaimaa</a:t>
            </a:r>
          </a:p>
        </p:txBody>
      </p:sp>
      <p:sp>
        <p:nvSpPr>
          <p:cNvPr id="3" name="Content Placeholder 2">
            <a:extLst>
              <a:ext uri="{FF2B5EF4-FFF2-40B4-BE49-F238E27FC236}">
                <a16:creationId xmlns:a16="http://schemas.microsoft.com/office/drawing/2014/main" id="{1396CEDB-9D0E-63EA-B72F-EADA50373F5C}"/>
              </a:ext>
            </a:extLst>
          </p:cNvPr>
          <p:cNvSpPr>
            <a:spLocks noGrp="1"/>
          </p:cNvSpPr>
          <p:nvPr>
            <p:ph idx="1"/>
          </p:nvPr>
        </p:nvSpPr>
        <p:spPr>
          <a:xfrm>
            <a:off x="1045028" y="3017522"/>
            <a:ext cx="9941319" cy="3124658"/>
          </a:xfrm>
        </p:spPr>
        <p:txBody>
          <a:bodyPr anchor="ctr">
            <a:normAutofit/>
          </a:bodyPr>
          <a:lstStyle/>
          <a:p>
            <a:r>
              <a:rPr lang="en-US" dirty="0"/>
              <a:t>For this deliverable, our team employed Git and GitHub to perform file uploads, pulls, and pushes. We assisted one another with the procedures involved and, in the process, learnt how version control operates. Collaboration facilitated the comprehension of commands and the execution of tasks. This segment enhanced our proficiency in using Git for collaborative projects.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196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Triangle 2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7033EA5-2D4C-973E-99EB-7ED7A87E562F}"/>
              </a:ext>
            </a:extLst>
          </p:cNvPr>
          <p:cNvSpPr txBox="1"/>
          <p:nvPr/>
        </p:nvSpPr>
        <p:spPr>
          <a:xfrm>
            <a:off x="1285240" y="2969469"/>
            <a:ext cx="8074815" cy="2800395"/>
          </a:xfrm>
          <a:prstGeom prst="rect">
            <a:avLst/>
          </a:prstGeom>
        </p:spPr>
        <p:txBody>
          <a:bodyPr vert="horz" lIns="91440" tIns="45720" rIns="91440" bIns="45720" rtlCol="0" anchor="t">
            <a:normAutofit fontScale="92500" lnSpcReduction="20000"/>
          </a:bodyPr>
          <a:lstStyle/>
          <a:p>
            <a:pPr algn="ctr"/>
            <a:r>
              <a:rPr lang="en-US" sz="2400" dirty="0"/>
              <a:t>To sum up, our undertaking demonstrated the potential of merging data analysis, machine learning, and GitHub collaboration to produce a neat, well-structured system. As a team, we acquired new techniques, helped one another, and got the gist of how the actual data could be transformed, evaluated, and disseminated. This venture not only increased our technical ability but also enhanced our cooperation. We appreciate your attention.</a:t>
            </a:r>
          </a:p>
          <a:p>
            <a:br>
              <a:rPr lang="en-US" sz="2400" dirty="0"/>
            </a:br>
            <a:endParaRPr lang="en-US" sz="2400" dirty="0"/>
          </a:p>
        </p:txBody>
      </p:sp>
    </p:spTree>
    <p:extLst>
      <p:ext uri="{BB962C8B-B14F-4D97-AF65-F5344CB8AC3E}">
        <p14:creationId xmlns:p14="http://schemas.microsoft.com/office/powerpoint/2010/main" val="219675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1490</Words>
  <Application>Microsoft Office PowerPoint</Application>
  <PresentationFormat>Widescreen</PresentationFormat>
  <Paragraphs>45</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Cancer dataset UAE</vt:lpstr>
      <vt:lpstr>https://github.com/h7amdahh/cancer_dataset_uae    https://www.kaggle.com/datasets    </vt:lpstr>
      <vt:lpstr>PowerPoint Presentation</vt:lpstr>
      <vt:lpstr>Derivable 1 </vt:lpstr>
      <vt:lpstr>Hamdah</vt:lpstr>
      <vt:lpstr>Mariam</vt:lpstr>
      <vt:lpstr>Afra </vt:lpstr>
      <vt:lpstr>Shaimaa</vt:lpstr>
      <vt:lpstr>Derivable 2</vt:lpstr>
      <vt:lpstr>Hamdah</vt:lpstr>
      <vt:lpstr>Maraim </vt:lpstr>
      <vt:lpstr>Afra </vt:lpstr>
      <vt:lpstr>Shaimaa </vt:lpstr>
      <vt:lpstr>Derivable 3</vt:lpstr>
      <vt:lpstr>Hamdah</vt:lpstr>
      <vt:lpstr>Maraim</vt:lpstr>
      <vt:lpstr>Afra </vt:lpstr>
      <vt:lpstr>Shaimaa</vt:lpstr>
      <vt:lpstr>Derivable 4</vt:lpstr>
      <vt:lpstr>Haamdah </vt:lpstr>
      <vt:lpstr>Maraim</vt:lpstr>
      <vt:lpstr>Afra </vt:lpstr>
      <vt:lpstr>Shaimaa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Hamdah Hassan Ali Hassan Alkindi(H00492795)</dc:creator>
  <cp:lastModifiedBy>Hamdah Hassan Ali Hassan Alkindi(H00492795)</cp:lastModifiedBy>
  <cp:revision>2</cp:revision>
  <dcterms:created xsi:type="dcterms:W3CDTF">2025-11-21T15:27:31Z</dcterms:created>
  <dcterms:modified xsi:type="dcterms:W3CDTF">2025-11-21T17:23:13Z</dcterms:modified>
</cp:coreProperties>
</file>