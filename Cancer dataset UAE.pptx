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Lst>
  <p:sldSz cy="6858000" cx="12192000"/>
  <p:notesSz cx="6858000" cy="9144000"/>
  <p:embeddedFontLst>
    <p:embeddedFont>
      <p:font typeface="Play"/>
      <p:regular r:id="rId34"/>
      <p:bold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jJMmleSYROTHFaPnpcciArIjr78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font" Target="fonts/Play-bold.fntdata"/><Relationship Id="rId12" Type="http://schemas.openxmlformats.org/officeDocument/2006/relationships/slide" Target="slides/slide8.xml"/><Relationship Id="rId34" Type="http://schemas.openxmlformats.org/officeDocument/2006/relationships/font" Target="fonts/Play-regular.fntdata"/><Relationship Id="rId15" Type="http://schemas.openxmlformats.org/officeDocument/2006/relationships/slide" Target="slides/slide11.xml"/><Relationship Id="rId14" Type="http://schemas.openxmlformats.org/officeDocument/2006/relationships/slide" Target="slides/slide10.xml"/><Relationship Id="rId36" Type="http://customschemas.google.com/relationships/presentationmetadata" Target="meta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a953708ef8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3a953708ef8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a953708ef8_2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a953708ef8_2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a953708ef8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3a953708ef8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a953708ef8_2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3a953708ef8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a953708ef8_2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a953708ef8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2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0" name="Google Shape;20;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3" name="Shape 23"/>
        <p:cNvGrpSpPr/>
        <p:nvPr/>
      </p:nvGrpSpPr>
      <p:grpSpPr>
        <a:xfrm>
          <a:off x="0" y="0"/>
          <a:ext cx="0" cy="0"/>
          <a:chOff x="0" y="0"/>
          <a:chExt cx="0" cy="0"/>
        </a:xfrm>
      </p:grpSpPr>
      <p:sp>
        <p:nvSpPr>
          <p:cNvPr id="24" name="Google Shape;24;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7" name="Shape 27"/>
        <p:cNvGrpSpPr/>
        <p:nvPr/>
      </p:nvGrpSpPr>
      <p:grpSpPr>
        <a:xfrm>
          <a:off x="0" y="0"/>
          <a:ext cx="0" cy="0"/>
          <a:chOff x="0" y="0"/>
          <a:chExt cx="0" cy="0"/>
        </a:xfrm>
      </p:grpSpPr>
      <p:sp>
        <p:nvSpPr>
          <p:cNvPr id="28" name="Google Shape;28;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0"/>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30"/>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1"/>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1"/>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31"/>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31"/>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5" name="Google Shape;45;p31"/>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3"/>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33"/>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3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4"/>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4"/>
          <p:cNvSpPr/>
          <p:nvPr>
            <p:ph idx="2" type="pic"/>
          </p:nvPr>
        </p:nvSpPr>
        <p:spPr>
          <a:xfrm>
            <a:off x="5183188" y="987425"/>
            <a:ext cx="6172200" cy="4873625"/>
          </a:xfrm>
          <a:prstGeom prst="rect">
            <a:avLst/>
          </a:prstGeom>
          <a:noFill/>
          <a:ln>
            <a:noFill/>
          </a:ln>
        </p:spPr>
      </p:sp>
      <p:sp>
        <p:nvSpPr>
          <p:cNvPr id="64" name="Google Shape;64;p34"/>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3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5"/>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3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6"/>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6"/>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3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github.com/h7amdahh/cancer_dataset_uae" TargetMode="External"/><Relationship Id="rId4" Type="http://schemas.openxmlformats.org/officeDocument/2006/relationships/hyperlink" Target="https://www.kaggle.com/datase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8.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3" name="Shape 83"/>
        <p:cNvGrpSpPr/>
        <p:nvPr/>
      </p:nvGrpSpPr>
      <p:grpSpPr>
        <a:xfrm>
          <a:off x="0" y="0"/>
          <a:ext cx="0" cy="0"/>
          <a:chOff x="0" y="0"/>
          <a:chExt cx="0" cy="0"/>
        </a:xfrm>
      </p:grpSpPr>
      <p:sp>
        <p:nvSpPr>
          <p:cNvPr id="84" name="Google Shape;84;p1"/>
          <p:cNvSpPr/>
          <p:nvPr/>
        </p:nvSpPr>
        <p:spPr>
          <a:xfrm>
            <a:off x="3048" y="0"/>
            <a:ext cx="12188952"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5" name="Google Shape;85;p1"/>
          <p:cNvSpPr/>
          <p:nvPr/>
        </p:nvSpPr>
        <p:spPr>
          <a:xfrm>
            <a:off x="0" y="0"/>
            <a:ext cx="12188952" cy="6858000"/>
          </a:xfrm>
          <a:prstGeom prst="rect">
            <a:avLst/>
          </a:prstGeom>
          <a:solidFill>
            <a:schemeClr val="dk1">
              <a:alpha val="52941"/>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86" name="Google Shape;86;p1"/>
          <p:cNvGrpSpPr/>
          <p:nvPr/>
        </p:nvGrpSpPr>
        <p:grpSpPr>
          <a:xfrm>
            <a:off x="1" y="2075420"/>
            <a:ext cx="12396066" cy="4440643"/>
            <a:chOff x="1" y="2075420"/>
            <a:chExt cx="12396066" cy="4440643"/>
          </a:xfrm>
        </p:grpSpPr>
        <p:sp>
          <p:nvSpPr>
            <p:cNvPr id="87" name="Google Shape;87;p1"/>
            <p:cNvSpPr/>
            <p:nvPr/>
          </p:nvSpPr>
          <p:spPr>
            <a:xfrm rot="4500000">
              <a:off x="7942191" y="2507571"/>
              <a:ext cx="3563871" cy="3563871"/>
            </a:xfrm>
            <a:prstGeom prst="ellipse">
              <a:avLst/>
            </a:prstGeom>
            <a:noFill/>
            <a:ln cap="flat" cmpd="sng" w="31750">
              <a:solidFill>
                <a:srgbClr val="2A7AD0">
                  <a:alpha val="9803"/>
                </a:srgbClr>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8" name="Google Shape;88;p1"/>
            <p:cNvSpPr/>
            <p:nvPr/>
          </p:nvSpPr>
          <p:spPr>
            <a:xfrm rot="-5400000">
              <a:off x="10435065" y="4048931"/>
              <a:ext cx="1381607" cy="1381607"/>
            </a:xfrm>
            <a:prstGeom prst="ellipse">
              <a:avLst/>
            </a:prstGeom>
            <a:noFill/>
            <a:ln cap="flat" cmpd="sng" w="31750">
              <a:solidFill>
                <a:srgbClr val="2A7AD0">
                  <a:alpha val="20000"/>
                </a:srgbClr>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9" name="Google Shape;89;p1"/>
            <p:cNvSpPr/>
            <p:nvPr/>
          </p:nvSpPr>
          <p:spPr>
            <a:xfrm rot="-5400000">
              <a:off x="1" y="2075420"/>
              <a:ext cx="3144364" cy="3144364"/>
            </a:xfrm>
            <a:prstGeom prst="ellipse">
              <a:avLst/>
            </a:prstGeom>
            <a:gradFill>
              <a:gsLst>
                <a:gs pos="0">
                  <a:srgbClr val="0A1D30">
                    <a:alpha val="20000"/>
                  </a:srgbClr>
                </a:gs>
                <a:gs pos="100000">
                  <a:srgbClr val="061320">
                    <a:alpha val="9803"/>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 name="Google Shape;90;p1"/>
            <p:cNvSpPr/>
            <p:nvPr/>
          </p:nvSpPr>
          <p:spPr>
            <a:xfrm rot="-9000000">
              <a:off x="10150845" y="4270841"/>
              <a:ext cx="1897885" cy="1897885"/>
            </a:xfrm>
            <a:prstGeom prst="ellipse">
              <a:avLst/>
            </a:prstGeom>
            <a:gradFill>
              <a:gsLst>
                <a:gs pos="0">
                  <a:srgbClr val="0A1D30">
                    <a:alpha val="9803"/>
                  </a:srgbClr>
                </a:gs>
                <a:gs pos="100000">
                  <a:srgbClr val="0A1D30">
                    <a:alpha val="20000"/>
                  </a:srgbClr>
                </a:gs>
              </a:gsLst>
              <a:lin ang="5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1" name="Google Shape;91;p1"/>
            <p:cNvSpPr/>
            <p:nvPr/>
          </p:nvSpPr>
          <p:spPr>
            <a:xfrm rot="4500000">
              <a:off x="2046780" y="3040492"/>
              <a:ext cx="2579322" cy="2579322"/>
            </a:xfrm>
            <a:prstGeom prst="ellipse">
              <a:avLst/>
            </a:prstGeom>
            <a:noFill/>
            <a:ln cap="flat" cmpd="sng" w="31750">
              <a:solidFill>
                <a:srgbClr val="2A7AD0">
                  <a:alpha val="20000"/>
                </a:srgbClr>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2" name="Google Shape;92;p1"/>
            <p:cNvSpPr/>
            <p:nvPr/>
          </p:nvSpPr>
          <p:spPr>
            <a:xfrm rot="4500000">
              <a:off x="2224640" y="3193975"/>
              <a:ext cx="2243193" cy="2243193"/>
            </a:xfrm>
            <a:prstGeom prst="ellipse">
              <a:avLst/>
            </a:prstGeom>
            <a:noFill/>
            <a:ln cap="flat" cmpd="sng" w="31750">
              <a:solidFill>
                <a:srgbClr val="2A7AD0">
                  <a:alpha val="9803"/>
                </a:srgbClr>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93" name="Google Shape;93;p1"/>
          <p:cNvSpPr/>
          <p:nvPr/>
        </p:nvSpPr>
        <p:spPr>
          <a:xfrm rot="-5400000">
            <a:off x="10438146" y="1042605"/>
            <a:ext cx="2796461" cy="711252"/>
          </a:xfrm>
          <a:prstGeom prst="rect">
            <a:avLst/>
          </a:prstGeom>
          <a:gradFill>
            <a:gsLst>
              <a:gs pos="0">
                <a:srgbClr val="6DA5E3">
                  <a:alpha val="0"/>
                </a:srgbClr>
              </a:gs>
              <a:gs pos="100000">
                <a:srgbClr val="0A1D30">
                  <a:alpha val="9803"/>
                </a:srgbClr>
              </a:gs>
            </a:gsLst>
            <a:lin ang="8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94" name="Google Shape;94;p1"/>
          <p:cNvGrpSpPr/>
          <p:nvPr/>
        </p:nvGrpSpPr>
        <p:grpSpPr>
          <a:xfrm>
            <a:off x="11259539" y="317578"/>
            <a:ext cx="548640" cy="549007"/>
            <a:chOff x="7029447" y="3514725"/>
            <a:chExt cx="1285875" cy="549007"/>
          </a:xfrm>
        </p:grpSpPr>
        <p:cxnSp>
          <p:nvCxnSpPr>
            <p:cNvPr id="95" name="Google Shape;95;p1"/>
            <p:cNvCxnSpPr/>
            <p:nvPr/>
          </p:nvCxnSpPr>
          <p:spPr>
            <a:xfrm>
              <a:off x="7029447" y="3514725"/>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96" name="Google Shape;96;p1"/>
            <p:cNvCxnSpPr/>
            <p:nvPr/>
          </p:nvCxnSpPr>
          <p:spPr>
            <a:xfrm>
              <a:off x="7029447" y="3697727"/>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97" name="Google Shape;97;p1"/>
            <p:cNvCxnSpPr/>
            <p:nvPr/>
          </p:nvCxnSpPr>
          <p:spPr>
            <a:xfrm>
              <a:off x="7029447" y="3880729"/>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98" name="Google Shape;98;p1"/>
            <p:cNvCxnSpPr/>
            <p:nvPr/>
          </p:nvCxnSpPr>
          <p:spPr>
            <a:xfrm>
              <a:off x="7029447" y="4063732"/>
              <a:ext cx="1285875" cy="0"/>
            </a:xfrm>
            <a:prstGeom prst="straightConnector1">
              <a:avLst/>
            </a:prstGeom>
            <a:noFill/>
            <a:ln cap="rnd" cmpd="sng" w="31750">
              <a:solidFill>
                <a:srgbClr val="2A7AD0">
                  <a:alpha val="40000"/>
                </a:srgbClr>
              </a:solidFill>
              <a:prstDash val="dot"/>
              <a:round/>
              <a:headEnd len="sm" w="sm" type="none"/>
              <a:tailEnd len="sm" w="sm" type="none"/>
            </a:ln>
          </p:spPr>
        </p:cxnSp>
      </p:grpSp>
      <p:sp>
        <p:nvSpPr>
          <p:cNvPr id="99" name="Google Shape;99;p1"/>
          <p:cNvSpPr/>
          <p:nvPr/>
        </p:nvSpPr>
        <p:spPr>
          <a:xfrm rot="10800000">
            <a:off x="-1" y="6140785"/>
            <a:ext cx="6095997" cy="711252"/>
          </a:xfrm>
          <a:prstGeom prst="rect">
            <a:avLst/>
          </a:prstGeom>
          <a:gradFill>
            <a:gsLst>
              <a:gs pos="0">
                <a:srgbClr val="061320">
                  <a:alpha val="9803"/>
                </a:srgbClr>
              </a:gs>
              <a:gs pos="10000">
                <a:srgbClr val="061320">
                  <a:alpha val="9803"/>
                </a:srgbClr>
              </a:gs>
              <a:gs pos="100000">
                <a:srgbClr val="2A7AD0">
                  <a:alpha val="0"/>
                </a:srgbClr>
              </a:gs>
            </a:gsLst>
            <a:lin ang="84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00" name="Google Shape;100;p1"/>
          <p:cNvGrpSpPr/>
          <p:nvPr/>
        </p:nvGrpSpPr>
        <p:grpSpPr>
          <a:xfrm rot="5400000">
            <a:off x="616345" y="5940560"/>
            <a:ext cx="1285875" cy="549007"/>
            <a:chOff x="7029447" y="3514725"/>
            <a:chExt cx="1285875" cy="549007"/>
          </a:xfrm>
        </p:grpSpPr>
        <p:cxnSp>
          <p:nvCxnSpPr>
            <p:cNvPr id="101" name="Google Shape;101;p1"/>
            <p:cNvCxnSpPr/>
            <p:nvPr/>
          </p:nvCxnSpPr>
          <p:spPr>
            <a:xfrm>
              <a:off x="7029447" y="3514725"/>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102" name="Google Shape;102;p1"/>
            <p:cNvCxnSpPr/>
            <p:nvPr/>
          </p:nvCxnSpPr>
          <p:spPr>
            <a:xfrm>
              <a:off x="7029447" y="3697727"/>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103" name="Google Shape;103;p1"/>
            <p:cNvCxnSpPr/>
            <p:nvPr/>
          </p:nvCxnSpPr>
          <p:spPr>
            <a:xfrm>
              <a:off x="7029447" y="3880729"/>
              <a:ext cx="1285875" cy="0"/>
            </a:xfrm>
            <a:prstGeom prst="straightConnector1">
              <a:avLst/>
            </a:prstGeom>
            <a:noFill/>
            <a:ln cap="rnd" cmpd="sng" w="31750">
              <a:solidFill>
                <a:srgbClr val="2A7AD0">
                  <a:alpha val="40000"/>
                </a:srgbClr>
              </a:solidFill>
              <a:prstDash val="dot"/>
              <a:round/>
              <a:headEnd len="sm" w="sm" type="none"/>
              <a:tailEnd len="sm" w="sm" type="none"/>
            </a:ln>
          </p:spPr>
        </p:cxnSp>
        <p:cxnSp>
          <p:nvCxnSpPr>
            <p:cNvPr id="104" name="Google Shape;104;p1"/>
            <p:cNvCxnSpPr/>
            <p:nvPr/>
          </p:nvCxnSpPr>
          <p:spPr>
            <a:xfrm>
              <a:off x="7029447" y="4063732"/>
              <a:ext cx="1285875" cy="0"/>
            </a:xfrm>
            <a:prstGeom prst="straightConnector1">
              <a:avLst/>
            </a:prstGeom>
            <a:noFill/>
            <a:ln cap="rnd" cmpd="sng" w="31750">
              <a:solidFill>
                <a:srgbClr val="2A7AD0">
                  <a:alpha val="40000"/>
                </a:srgbClr>
              </a:solidFill>
              <a:prstDash val="dot"/>
              <a:round/>
              <a:headEnd len="sm" w="sm" type="none"/>
              <a:tailEnd len="sm" w="sm" type="none"/>
            </a:ln>
          </p:spPr>
        </p:cxnSp>
      </p:grpSp>
      <p:pic>
        <p:nvPicPr>
          <p:cNvPr descr="A picture of an electromagnetic radiation" id="105" name="Google Shape;105;p1"/>
          <p:cNvPicPr preferRelativeResize="0"/>
          <p:nvPr/>
        </p:nvPicPr>
        <p:blipFill rotWithShape="1">
          <a:blip r:embed="rId3">
            <a:alphaModFix amt="25000"/>
          </a:blip>
          <a:srcRect b="6292" l="0" r="0" t="9752"/>
          <a:stretch/>
        </p:blipFill>
        <p:spPr>
          <a:xfrm>
            <a:off x="782657" y="29548"/>
            <a:ext cx="10691304" cy="6013845"/>
          </a:xfrm>
          <a:prstGeom prst="rect">
            <a:avLst/>
          </a:prstGeom>
          <a:noFill/>
          <a:ln>
            <a:noFill/>
          </a:ln>
        </p:spPr>
      </p:pic>
      <p:sp>
        <p:nvSpPr>
          <p:cNvPr id="106" name="Google Shape;106;p1"/>
          <p:cNvSpPr txBox="1"/>
          <p:nvPr>
            <p:ph type="ctrTitle"/>
          </p:nvPr>
        </p:nvSpPr>
        <p:spPr>
          <a:xfrm>
            <a:off x="2618173" y="630936"/>
            <a:ext cx="7315200" cy="2702018"/>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lt1"/>
              </a:buClr>
              <a:buSzPts val="4800"/>
              <a:buFont typeface="Play"/>
              <a:buNone/>
            </a:pPr>
            <a:r>
              <a:rPr lang="en-US" sz="4800">
                <a:solidFill>
                  <a:schemeClr val="lt1"/>
                </a:solidFill>
              </a:rPr>
              <a:t>Cancer dataset UAE</a:t>
            </a:r>
            <a:endParaRPr/>
          </a:p>
        </p:txBody>
      </p:sp>
      <p:sp>
        <p:nvSpPr>
          <p:cNvPr id="107" name="Google Shape;107;p1"/>
          <p:cNvSpPr txBox="1"/>
          <p:nvPr>
            <p:ph idx="1" type="subTitle"/>
          </p:nvPr>
        </p:nvSpPr>
        <p:spPr>
          <a:xfrm>
            <a:off x="2618174" y="3427487"/>
            <a:ext cx="7315200" cy="2615906"/>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chemeClr val="lt1"/>
              </a:buClr>
              <a:buSzPts val="2400"/>
              <a:buNone/>
            </a:pPr>
            <a:r>
              <a:rPr lang="en-US">
                <a:solidFill>
                  <a:schemeClr val="lt1"/>
                </a:solidFill>
              </a:rPr>
              <a:t>Hamdah Alkindi  H00492795</a:t>
            </a:r>
            <a:endParaRPr/>
          </a:p>
          <a:p>
            <a:pPr indent="0" lvl="0" marL="0" rtl="0" algn="ctr">
              <a:lnSpc>
                <a:spcPct val="90000"/>
              </a:lnSpc>
              <a:spcBef>
                <a:spcPts val="1000"/>
              </a:spcBef>
              <a:spcAft>
                <a:spcPts val="0"/>
              </a:spcAft>
              <a:buClr>
                <a:schemeClr val="lt1"/>
              </a:buClr>
              <a:buSzPts val="2400"/>
              <a:buNone/>
            </a:pPr>
            <a:r>
              <a:rPr lang="en-US">
                <a:solidFill>
                  <a:schemeClr val="lt1"/>
                </a:solidFill>
              </a:rPr>
              <a:t>Mariam Jasim  H00492025</a:t>
            </a:r>
            <a:endParaRPr/>
          </a:p>
          <a:p>
            <a:pPr indent="0" lvl="0" marL="0" rtl="0" algn="ctr">
              <a:lnSpc>
                <a:spcPct val="90000"/>
              </a:lnSpc>
              <a:spcBef>
                <a:spcPts val="1000"/>
              </a:spcBef>
              <a:spcAft>
                <a:spcPts val="0"/>
              </a:spcAft>
              <a:buClr>
                <a:schemeClr val="lt1"/>
              </a:buClr>
              <a:buSzPts val="2400"/>
              <a:buNone/>
            </a:pPr>
            <a:r>
              <a:rPr lang="en-US">
                <a:solidFill>
                  <a:schemeClr val="lt1"/>
                </a:solidFill>
              </a:rPr>
              <a:t>Afra Almansoori H00496444</a:t>
            </a:r>
            <a:endParaRPr/>
          </a:p>
          <a:p>
            <a:pPr indent="0" lvl="0" marL="0" rtl="0" algn="ctr">
              <a:lnSpc>
                <a:spcPct val="90000"/>
              </a:lnSpc>
              <a:spcBef>
                <a:spcPts val="1000"/>
              </a:spcBef>
              <a:spcAft>
                <a:spcPts val="0"/>
              </a:spcAft>
              <a:buClr>
                <a:schemeClr val="lt1"/>
              </a:buClr>
              <a:buSzPts val="2400"/>
              <a:buNone/>
            </a:pPr>
            <a:r>
              <a:rPr lang="en-US">
                <a:solidFill>
                  <a:schemeClr val="lt1"/>
                </a:solidFill>
              </a:rPr>
              <a:t>Shaimaa Abdulrahman H00532150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
          <p:cNvSpPr txBox="1"/>
          <p:nvPr>
            <p:ph type="title"/>
          </p:nvPr>
        </p:nvSpPr>
        <p:spPr>
          <a:xfrm>
            <a:off x="415950" y="1248530"/>
            <a:ext cx="11360100" cy="406530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Clr>
                <a:schemeClr val="dk1"/>
              </a:buClr>
              <a:buSzPts val="3600"/>
              <a:buFont typeface="Play"/>
              <a:buNone/>
            </a:pPr>
            <a:r>
              <a:rPr lang="en-US" sz="3600" u="sng">
                <a:solidFill>
                  <a:schemeClr val="hlink"/>
                </a:solidFill>
                <a:hlinkClick r:id="rId3"/>
              </a:rPr>
              <a:t>https://github.com/h7amdahh/cancer_dataset_uae</a:t>
            </a:r>
            <a:r>
              <a:rPr lang="en-US" sz="3600"/>
              <a:t> </a:t>
            </a:r>
            <a:br>
              <a:rPr lang="en-US" sz="3600"/>
            </a:br>
            <a:r>
              <a:rPr lang="en-US" sz="3600"/>
              <a:t> </a:t>
            </a:r>
            <a:br>
              <a:rPr lang="en-US" sz="3600"/>
            </a:br>
            <a:r>
              <a:rPr lang="en-US" sz="3600" u="sng">
                <a:solidFill>
                  <a:schemeClr val="hlink"/>
                </a:solidFill>
                <a:hlinkClick r:id="rId4"/>
              </a:rPr>
              <a:t>https://www.kaggle.com/datasets</a:t>
            </a:r>
            <a:r>
              <a:rPr lang="en-US" sz="3600"/>
              <a:t> </a:t>
            </a:r>
            <a:endParaRPr sz="3600"/>
          </a:p>
          <a:p>
            <a:pPr indent="0" lvl="0" marL="0" rtl="0" algn="l">
              <a:lnSpc>
                <a:spcPct val="90000"/>
              </a:lnSpc>
              <a:spcBef>
                <a:spcPts val="0"/>
              </a:spcBef>
              <a:spcAft>
                <a:spcPts val="0"/>
              </a:spcAft>
              <a:buClr>
                <a:schemeClr val="dk1"/>
              </a:buClr>
              <a:buSzPts val="3600"/>
              <a:buFont typeface="Play"/>
              <a:buNone/>
            </a:pPr>
            <a:r>
              <a:t/>
            </a:r>
            <a:endParaRPr sz="3600"/>
          </a:p>
          <a:p>
            <a:pPr indent="0" lvl="0" marL="0" rtl="0" algn="l">
              <a:lnSpc>
                <a:spcPct val="90000"/>
              </a:lnSpc>
              <a:spcBef>
                <a:spcPts val="0"/>
              </a:spcBef>
              <a:spcAft>
                <a:spcPts val="0"/>
              </a:spcAft>
              <a:buClr>
                <a:schemeClr val="dk1"/>
              </a:buClr>
              <a:buSzPts val="3600"/>
              <a:buFont typeface="Play"/>
              <a:buNone/>
            </a:pPr>
            <a:r>
              <a:rPr lang="en-US" sz="3600"/>
              <a:t>afra-star23</a:t>
            </a:r>
            <a:br>
              <a:rPr lang="en-US" sz="3600"/>
            </a:br>
            <a:r>
              <a:rPr lang="en-US" sz="3600"/>
              <a:t>SHA8776</a:t>
            </a:r>
            <a:endParaRPr sz="3600"/>
          </a:p>
          <a:p>
            <a:pPr indent="0" lvl="0" marL="0" rtl="0" algn="l">
              <a:lnSpc>
                <a:spcPct val="90000"/>
              </a:lnSpc>
              <a:spcBef>
                <a:spcPts val="0"/>
              </a:spcBef>
              <a:spcAft>
                <a:spcPts val="0"/>
              </a:spcAft>
              <a:buClr>
                <a:schemeClr val="dk1"/>
              </a:buClr>
              <a:buSzPts val="3600"/>
              <a:buFont typeface="Play"/>
              <a:buNone/>
            </a:pPr>
            <a:r>
              <a:rPr lang="en-US" sz="3600"/>
              <a:t>Mariam-11-1</a:t>
            </a:r>
            <a:endParaRPr sz="3600"/>
          </a:p>
          <a:p>
            <a:pPr indent="0" lvl="0" marL="0" rtl="0" algn="l">
              <a:lnSpc>
                <a:spcPct val="90000"/>
              </a:lnSpc>
              <a:spcBef>
                <a:spcPts val="0"/>
              </a:spcBef>
              <a:spcAft>
                <a:spcPts val="0"/>
              </a:spcAft>
              <a:buClr>
                <a:schemeClr val="dk1"/>
              </a:buClr>
              <a:buSzPts val="3600"/>
              <a:buFont typeface="Play"/>
              <a:buNone/>
            </a:pPr>
            <a:r>
              <a:rPr lang="en-US" sz="3600"/>
              <a:t>h7amdahh</a:t>
            </a:r>
            <a:br>
              <a:rPr lang="en-US" sz="3600"/>
            </a:br>
            <a:endParaRPr sz="36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6" name="Shape 116"/>
        <p:cNvGrpSpPr/>
        <p:nvPr/>
      </p:nvGrpSpPr>
      <p:grpSpPr>
        <a:xfrm>
          <a:off x="0" y="0"/>
          <a:ext cx="0" cy="0"/>
          <a:chOff x="0" y="0"/>
          <a:chExt cx="0" cy="0"/>
        </a:xfrm>
      </p:grpSpPr>
      <p:sp>
        <p:nvSpPr>
          <p:cNvPr id="117" name="Google Shape;117;p3"/>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18" name="Google Shape;118;p3"/>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19" name="Google Shape;119;p3"/>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0" name="Google Shape;120;p3"/>
          <p:cNvSpPr txBox="1"/>
          <p:nvPr/>
        </p:nvSpPr>
        <p:spPr>
          <a:xfrm>
            <a:off x="1840215" y="2205382"/>
            <a:ext cx="8074800" cy="2800500"/>
          </a:xfrm>
          <a:prstGeom prst="rect">
            <a:avLst/>
          </a:prstGeom>
          <a:noFill/>
          <a:ln>
            <a:noFill/>
          </a:ln>
        </p:spPr>
        <p:txBody>
          <a:bodyPr anchorCtr="0" anchor="t" bIns="45700" lIns="91425" spcFirstLastPara="1" rIns="91425" wrap="square" tIns="45700">
            <a:normAutofit lnSpcReduction="10000"/>
          </a:bodyPr>
          <a:lstStyle/>
          <a:p>
            <a:pPr indent="0" lvl="0" marL="0" marR="0" rtl="0" algn="ctr">
              <a:lnSpc>
                <a:spcPct val="90000"/>
              </a:lnSpc>
              <a:spcBef>
                <a:spcPts val="0"/>
              </a:spcBef>
              <a:spcAft>
                <a:spcPts val="0"/>
              </a:spcAft>
              <a:buNone/>
            </a:pPr>
            <a:r>
              <a:rPr b="0" i="0" lang="en-US" sz="2200" u="none" cap="none" strike="noStrike">
                <a:solidFill>
                  <a:schemeClr val="dk1"/>
                </a:solidFill>
                <a:latin typeface="Arial"/>
                <a:ea typeface="Arial"/>
                <a:cs typeface="Arial"/>
                <a:sym typeface="Arial"/>
              </a:rPr>
              <a:t>We are going to introduce our project, which is based on working with a real dataset, machine learning model application, and utilizing Git and GitHub for teamwork today. The entire group collaborated in getting familiar with the data, writing the code, and producing each deliverable little by little. In this presentation, our aim is to display our learning outcomes, the application of techniques, and the results we got during the project.</a:t>
            </a:r>
            <a:endParaRPr/>
          </a:p>
          <a:p>
            <a:pPr indent="139700" lvl="0" marL="0" marR="0" rtl="0" algn="l">
              <a:lnSpc>
                <a:spcPct val="90000"/>
              </a:lnSpc>
              <a:spcBef>
                <a:spcPts val="600"/>
              </a:spcBef>
              <a:spcAft>
                <a:spcPts val="0"/>
              </a:spcAft>
              <a:buClr>
                <a:schemeClr val="dk1"/>
              </a:buClr>
              <a:buSzPts val="2200"/>
              <a:buFont typeface="Arial"/>
              <a:buNone/>
            </a:pPr>
            <a:r>
              <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4" name="Shape 124"/>
        <p:cNvGrpSpPr/>
        <p:nvPr/>
      </p:nvGrpSpPr>
      <p:grpSpPr>
        <a:xfrm>
          <a:off x="0" y="0"/>
          <a:ext cx="0" cy="0"/>
          <a:chOff x="0" y="0"/>
          <a:chExt cx="0" cy="0"/>
        </a:xfrm>
      </p:grpSpPr>
      <p:sp>
        <p:nvSpPr>
          <p:cNvPr id="125" name="Google Shape;125;p4"/>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6" name="Google Shape;126;p4"/>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7" name="Google Shape;127;p4"/>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8" name="Google Shape;128;p4"/>
          <p:cNvSpPr txBox="1"/>
          <p:nvPr>
            <p:ph type="ctrTitle"/>
          </p:nvPr>
        </p:nvSpPr>
        <p:spPr>
          <a:xfrm>
            <a:off x="1285241" y="1008993"/>
            <a:ext cx="9231410" cy="3542045"/>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11500"/>
              <a:buFont typeface="Play"/>
              <a:buNone/>
            </a:pPr>
            <a:r>
              <a:rPr b="1" lang="en-US" sz="11500"/>
              <a:t>Derivable 1 </a:t>
            </a:r>
            <a:endParaRPr sz="11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500"/>
                                  </p:stCondLst>
                                  <p:childTnLst>
                                    <p:set>
                                      <p:cBhvr>
                                        <p:cTn dur="1" fill="hold">
                                          <p:stCondLst>
                                            <p:cond delay="0"/>
                                          </p:stCondLst>
                                        </p:cTn>
                                        <p:tgtEl>
                                          <p:spTgt spid="128"/>
                                        </p:tgtEl>
                                        <p:attrNameLst>
                                          <p:attrName>style.visibility</p:attrName>
                                        </p:attrNameLst>
                                      </p:cBhvr>
                                      <p:to>
                                        <p:strVal val="visible"/>
                                      </p:to>
                                    </p:set>
                                    <p:animEffect filter="fade" transition="in">
                                      <p:cBhvr>
                                        <p:cTn dur="400"/>
                                        <p:tgtEl>
                                          <p:spTgt spid="12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2" name="Shape 132"/>
        <p:cNvGrpSpPr/>
        <p:nvPr/>
      </p:nvGrpSpPr>
      <p:grpSpPr>
        <a:xfrm>
          <a:off x="0" y="0"/>
          <a:ext cx="0" cy="0"/>
          <a:chOff x="0" y="0"/>
          <a:chExt cx="0" cy="0"/>
        </a:xfrm>
      </p:grpSpPr>
      <p:sp>
        <p:nvSpPr>
          <p:cNvPr id="133" name="Google Shape;133;p5"/>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34" name="Google Shape;134;p5"/>
          <p:cNvGrpSpPr/>
          <p:nvPr/>
        </p:nvGrpSpPr>
        <p:grpSpPr>
          <a:xfrm>
            <a:off x="4" y="1216597"/>
            <a:ext cx="731521" cy="673460"/>
            <a:chOff x="3940602" y="308034"/>
            <a:chExt cx="2116791" cy="3428999"/>
          </a:xfrm>
        </p:grpSpPr>
        <p:sp>
          <p:nvSpPr>
            <p:cNvPr id="135" name="Google Shape;135;p5"/>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6" name="Google Shape;136;p5"/>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7" name="Google Shape;137;p5"/>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138" name="Google Shape;138;p5"/>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9" name="Google Shape;139;p5"/>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Hamdah</a:t>
            </a:r>
            <a:endParaRPr/>
          </a:p>
        </p:txBody>
      </p:sp>
      <p:sp>
        <p:nvSpPr>
          <p:cNvPr id="140" name="Google Shape;140;p5"/>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US" sz="2400"/>
              <a:t>As a group, we collaborated to create and execute the Python code for this aspect of the project. The functions descriptive_stats() and sampling were among those that we implemented. Our collaboration boosted our comprehension of the results as each member unpacked a portion they grasped. Code execution was a demonstration of how the statistics get calculated and how the dataset is altered post-sampling. In short, this part has been a great source of both our teamwork and Python skill confidence.</a:t>
            </a:r>
            <a:endParaRPr/>
          </a:p>
        </p:txBody>
      </p:sp>
      <p:cxnSp>
        <p:nvCxnSpPr>
          <p:cNvPr id="141" name="Google Shape;141;p5"/>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5" name="Shape 145"/>
        <p:cNvGrpSpPr/>
        <p:nvPr/>
      </p:nvGrpSpPr>
      <p:grpSpPr>
        <a:xfrm>
          <a:off x="0" y="0"/>
          <a:ext cx="0" cy="0"/>
          <a:chOff x="0" y="0"/>
          <a:chExt cx="0" cy="0"/>
        </a:xfrm>
      </p:grpSpPr>
      <p:sp>
        <p:nvSpPr>
          <p:cNvPr id="146" name="Google Shape;146;p6"/>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47" name="Google Shape;147;p6"/>
          <p:cNvGrpSpPr/>
          <p:nvPr/>
        </p:nvGrpSpPr>
        <p:grpSpPr>
          <a:xfrm>
            <a:off x="4" y="1216597"/>
            <a:ext cx="731521" cy="673460"/>
            <a:chOff x="3940602" y="308034"/>
            <a:chExt cx="2116791" cy="3428999"/>
          </a:xfrm>
        </p:grpSpPr>
        <p:sp>
          <p:nvSpPr>
            <p:cNvPr id="148" name="Google Shape;148;p6"/>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49" name="Google Shape;149;p6"/>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50" name="Google Shape;150;p6"/>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151" name="Google Shape;151;p6"/>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52" name="Google Shape;152;p6"/>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Mariam</a:t>
            </a:r>
            <a:endParaRPr/>
          </a:p>
        </p:txBody>
      </p:sp>
      <p:sp>
        <p:nvSpPr>
          <p:cNvPr id="153" name="Google Shape;153;p6"/>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US" sz="2400"/>
              <a:t>Our group helped each other with the code in this section. We used Python to read the data, take samples, and calculate basic statistics. Sometimes the code gave errors, but we fixed them together. This made the work easier and clearer for everyone. By doing the coding as a team, we learned more about data analysis and how to understand the output.</a:t>
            </a:r>
            <a:endParaRPr/>
          </a:p>
        </p:txBody>
      </p:sp>
      <p:cxnSp>
        <p:nvCxnSpPr>
          <p:cNvPr id="154" name="Google Shape;154;p6"/>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8" name="Shape 158"/>
        <p:cNvGrpSpPr/>
        <p:nvPr/>
      </p:nvGrpSpPr>
      <p:grpSpPr>
        <a:xfrm>
          <a:off x="0" y="0"/>
          <a:ext cx="0" cy="0"/>
          <a:chOff x="0" y="0"/>
          <a:chExt cx="0" cy="0"/>
        </a:xfrm>
      </p:grpSpPr>
      <p:sp>
        <p:nvSpPr>
          <p:cNvPr id="159" name="Google Shape;159;p7"/>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60" name="Google Shape;160;p7"/>
          <p:cNvGrpSpPr/>
          <p:nvPr/>
        </p:nvGrpSpPr>
        <p:grpSpPr>
          <a:xfrm>
            <a:off x="4" y="1216597"/>
            <a:ext cx="731521" cy="673460"/>
            <a:chOff x="3940602" y="308034"/>
            <a:chExt cx="2116791" cy="3428999"/>
          </a:xfrm>
        </p:grpSpPr>
        <p:sp>
          <p:nvSpPr>
            <p:cNvPr id="161" name="Google Shape;161;p7"/>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62" name="Google Shape;162;p7"/>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63" name="Google Shape;163;p7"/>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164" name="Google Shape;164;p7"/>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65" name="Google Shape;165;p7"/>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Afra </a:t>
            </a:r>
            <a:endParaRPr/>
          </a:p>
        </p:txBody>
      </p:sp>
      <p:sp>
        <p:nvSpPr>
          <p:cNvPr id="166" name="Google Shape;166;p7"/>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US" sz="2400"/>
              <a:t>In this task, our group used simple Python code to explore the dataset. We worked on sampling, descriptive statistics, and printing results using pandas. Each member tried running the code and shared their understanding with the group. This teamwork helped us learn faster and understand why each step in the code is important. The experience also improved our communication and problem-solving skills.</a:t>
            </a:r>
            <a:endParaRPr/>
          </a:p>
        </p:txBody>
      </p:sp>
      <p:cxnSp>
        <p:nvCxnSpPr>
          <p:cNvPr id="167" name="Google Shape;167;p7"/>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1" name="Shape 171"/>
        <p:cNvGrpSpPr/>
        <p:nvPr/>
      </p:nvGrpSpPr>
      <p:grpSpPr>
        <a:xfrm>
          <a:off x="0" y="0"/>
          <a:ext cx="0" cy="0"/>
          <a:chOff x="0" y="0"/>
          <a:chExt cx="0" cy="0"/>
        </a:xfrm>
      </p:grpSpPr>
      <p:sp>
        <p:nvSpPr>
          <p:cNvPr id="172" name="Google Shape;172;p8"/>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73" name="Google Shape;173;p8"/>
          <p:cNvGrpSpPr/>
          <p:nvPr/>
        </p:nvGrpSpPr>
        <p:grpSpPr>
          <a:xfrm>
            <a:off x="4" y="1216597"/>
            <a:ext cx="731521" cy="673460"/>
            <a:chOff x="3940602" y="308034"/>
            <a:chExt cx="2116791" cy="3428999"/>
          </a:xfrm>
        </p:grpSpPr>
        <p:sp>
          <p:nvSpPr>
            <p:cNvPr id="174" name="Google Shape;174;p8"/>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75" name="Google Shape;175;p8"/>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76" name="Google Shape;176;p8"/>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177" name="Google Shape;177;p8"/>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78" name="Google Shape;178;p8"/>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Shaimaa</a:t>
            </a:r>
            <a:endParaRPr/>
          </a:p>
        </p:txBody>
      </p:sp>
      <p:sp>
        <p:nvSpPr>
          <p:cNvPr id="179" name="Google Shape;179;p8"/>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US" sz="2400"/>
              <a:t>As a group, we used Python code to analyze the data in this part. We supported each other with the coding steps and explained the output together. Using the code helped us understand the dataset better and working as a team made the task much easier. This section helped us build both technical skills and teamwork skills.</a:t>
            </a:r>
            <a:endParaRPr/>
          </a:p>
        </p:txBody>
      </p:sp>
      <p:cxnSp>
        <p:nvCxnSpPr>
          <p:cNvPr id="180" name="Google Shape;180;p8"/>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a953708ef8_2_0"/>
          <p:cNvSpPr txBox="1"/>
          <p:nvPr/>
        </p:nvSpPr>
        <p:spPr>
          <a:xfrm>
            <a:off x="512350" y="396425"/>
            <a:ext cx="11381700" cy="86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1200">
                <a:solidFill>
                  <a:schemeClr val="dk1"/>
                </a:solidFill>
              </a:rPr>
              <a:t>Define the purpose of data analysis for the chosen dataset</a:t>
            </a:r>
            <a:endParaRPr b="1" sz="1200">
              <a:solidFill>
                <a:schemeClr val="dk1"/>
              </a:solidFill>
            </a:endParaRPr>
          </a:p>
          <a:p>
            <a:pPr indent="0" lvl="0" marL="0" rtl="0" algn="l">
              <a:lnSpc>
                <a:spcPct val="115000"/>
              </a:lnSpc>
              <a:spcBef>
                <a:spcPts val="0"/>
              </a:spcBef>
              <a:spcAft>
                <a:spcPts val="0"/>
              </a:spcAft>
              <a:buNone/>
            </a:pPr>
            <a:r>
              <a:rPr lang="en-US">
                <a:solidFill>
                  <a:schemeClr val="dk1"/>
                </a:solidFill>
              </a:rPr>
              <a:t>The data analysis presented here is aimed at probing and clarifying the relationships between various medical and personal factors like age, cancer type, stage, treatment, and lifestyle and patient outcomes.</a:t>
            </a:r>
            <a:endParaRPr sz="1500"/>
          </a:p>
        </p:txBody>
      </p:sp>
      <p:sp>
        <p:nvSpPr>
          <p:cNvPr id="186" name="Google Shape;186;g3a953708ef8_2_0"/>
          <p:cNvSpPr txBox="1"/>
          <p:nvPr/>
        </p:nvSpPr>
        <p:spPr>
          <a:xfrm>
            <a:off x="512350" y="1256813"/>
            <a:ext cx="11381700" cy="834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justify the type of programming used for data analyses </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Python programming is used for data analysis because it supports both procedural and object-oriented programming.</a:t>
            </a:r>
            <a:endParaRPr>
              <a:solidFill>
                <a:schemeClr val="dk1"/>
              </a:solidFill>
            </a:endParaRPr>
          </a:p>
          <a:p>
            <a:pPr indent="0" lvl="0" marL="0" rtl="0" algn="l">
              <a:lnSpc>
                <a:spcPct val="115000"/>
              </a:lnSpc>
              <a:spcBef>
                <a:spcPts val="0"/>
              </a:spcBef>
              <a:spcAft>
                <a:spcPts val="0"/>
              </a:spcAft>
              <a:buNone/>
            </a:pPr>
            <a:r>
              <a:t/>
            </a:r>
            <a:endParaRPr sz="1000">
              <a:solidFill>
                <a:schemeClr val="dk1"/>
              </a:solidFill>
            </a:endParaRPr>
          </a:p>
        </p:txBody>
      </p:sp>
      <p:sp>
        <p:nvSpPr>
          <p:cNvPr id="187" name="Google Shape;187;g3a953708ef8_2_0"/>
          <p:cNvSpPr txBox="1"/>
          <p:nvPr/>
        </p:nvSpPr>
        <p:spPr>
          <a:xfrm>
            <a:off x="512350" y="2055575"/>
            <a:ext cx="11381700" cy="114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type and purpose of the machine learning algorithm to be implemented for dataset</a:t>
            </a:r>
            <a:endParaRPr b="1">
              <a:solidFill>
                <a:schemeClr val="dk1"/>
              </a:solidFill>
            </a:endParaRPr>
          </a:p>
          <a:p>
            <a:pPr indent="0" lvl="0" marL="0" rtl="1" algn="l">
              <a:lnSpc>
                <a:spcPct val="115000"/>
              </a:lnSpc>
              <a:spcBef>
                <a:spcPts val="0"/>
              </a:spcBef>
              <a:spcAft>
                <a:spcPts val="0"/>
              </a:spcAft>
              <a:buNone/>
            </a:pPr>
            <a:r>
              <a:rPr b="1" lang="en-US">
                <a:solidFill>
                  <a:schemeClr val="dk1"/>
                </a:solidFill>
              </a:rPr>
              <a:t>Type of Machine Learning Algorithm</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In this data we are using </a:t>
            </a:r>
            <a:r>
              <a:rPr lang="en-US">
                <a:solidFill>
                  <a:schemeClr val="dk1"/>
                </a:solidFill>
                <a:highlight>
                  <a:srgbClr val="FFFF00"/>
                </a:highlight>
              </a:rPr>
              <a:t>Supervised Learning  </a:t>
            </a:r>
            <a:r>
              <a:rPr lang="en-US">
                <a:solidFill>
                  <a:schemeClr val="dk1"/>
                </a:solidFill>
              </a:rPr>
              <a:t>because the dataset contains labeled</a:t>
            </a:r>
            <a:r>
              <a:rPr b="1" lang="en-US">
                <a:solidFill>
                  <a:schemeClr val="dk1"/>
                </a:solidFill>
              </a:rPr>
              <a:t> </a:t>
            </a:r>
            <a:r>
              <a:rPr lang="en-US">
                <a:solidFill>
                  <a:schemeClr val="dk1"/>
                </a:solidFill>
              </a:rPr>
              <a:t>data, where the Outcome ( EX: </a:t>
            </a:r>
            <a:r>
              <a:rPr i="1" lang="en-US">
                <a:solidFill>
                  <a:schemeClr val="dk1"/>
                </a:solidFill>
              </a:rPr>
              <a:t>Recovered</a:t>
            </a:r>
            <a:r>
              <a:rPr lang="en-US">
                <a:solidFill>
                  <a:schemeClr val="dk1"/>
                </a:solidFill>
              </a:rPr>
              <a:t>, </a:t>
            </a:r>
            <a:r>
              <a:rPr i="1" lang="en-US">
                <a:solidFill>
                  <a:schemeClr val="dk1"/>
                </a:solidFill>
              </a:rPr>
              <a:t>Under Treatment</a:t>
            </a:r>
            <a:r>
              <a:rPr lang="en-US">
                <a:solidFill>
                  <a:schemeClr val="dk1"/>
                </a:solidFill>
              </a:rPr>
              <a:t>, </a:t>
            </a:r>
            <a:r>
              <a:rPr i="1" lang="en-US">
                <a:solidFill>
                  <a:schemeClr val="dk1"/>
                </a:solidFill>
              </a:rPr>
              <a:t>Deceased</a:t>
            </a:r>
            <a:r>
              <a:rPr lang="en-US">
                <a:solidFill>
                  <a:schemeClr val="dk1"/>
                </a:solidFill>
              </a:rPr>
              <a:t>) is known for each patient.</a:t>
            </a:r>
            <a:endParaRPr>
              <a:solidFill>
                <a:schemeClr val="dk1"/>
              </a:solidFill>
            </a:endParaRPr>
          </a:p>
        </p:txBody>
      </p:sp>
      <p:sp>
        <p:nvSpPr>
          <p:cNvPr id="188" name="Google Shape;188;g3a953708ef8_2_0"/>
          <p:cNvSpPr txBox="1"/>
          <p:nvPr/>
        </p:nvSpPr>
        <p:spPr>
          <a:xfrm>
            <a:off x="512350" y="3261150"/>
            <a:ext cx="113817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Purpose of the Algorithm</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The purpose of implementing this algorithm is to predict cancer patient outcomes and identify the risk levels based on the medical and personal data such as age, cancer type, stage and treatment type.</a:t>
            </a:r>
            <a:endParaRPr>
              <a:solidFill>
                <a:schemeClr val="dk1"/>
              </a:solidFill>
            </a:endParaRPr>
          </a:p>
        </p:txBody>
      </p:sp>
      <p:sp>
        <p:nvSpPr>
          <p:cNvPr id="189" name="Google Shape;189;g3a953708ef8_2_0"/>
          <p:cNvSpPr txBox="1"/>
          <p:nvPr/>
        </p:nvSpPr>
        <p:spPr>
          <a:xfrm>
            <a:off x="512350" y="4369038"/>
            <a:ext cx="11381700" cy="114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Identify and justify the independent and dependent variables </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 </a:t>
            </a:r>
            <a:r>
              <a:rPr b="1" lang="en-US">
                <a:solidFill>
                  <a:schemeClr val="dk1"/>
                </a:solidFill>
              </a:rPr>
              <a:t>The independent variables</a:t>
            </a:r>
            <a:r>
              <a:rPr lang="en-US">
                <a:solidFill>
                  <a:schemeClr val="dk1"/>
                </a:solidFill>
              </a:rPr>
              <a:t> of our chosen dataset are: Age, Gender, Nationality, Emirate, Cancer_Type, Cancer_Stage, Treatment_Type, Treatment_Start_Date, Smoking_Status, Comorbidities, Ethnicity, Weight, Height, Hospital, Primary_Physician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a:t>
            </a:r>
            <a:r>
              <a:rPr b="1" lang="en-US">
                <a:solidFill>
                  <a:schemeClr val="dk1"/>
                </a:solidFill>
              </a:rPr>
              <a:t> The dependent variables</a:t>
            </a:r>
            <a:r>
              <a:rPr lang="en-US">
                <a:solidFill>
                  <a:schemeClr val="dk1"/>
                </a:solidFill>
              </a:rPr>
              <a:t> of our chosen dataset are: Outcome, Death_Date, Cause_of_Death, Treatment_Type, Treatment_Start_Date.</a:t>
            </a:r>
            <a:endParaRPr>
              <a:solidFill>
                <a:schemeClr val="dk1"/>
              </a:solidFill>
            </a:endParaRPr>
          </a:p>
        </p:txBody>
      </p:sp>
      <p:sp>
        <p:nvSpPr>
          <p:cNvPr id="190" name="Google Shape;190;g3a953708ef8_2_0"/>
          <p:cNvSpPr txBox="1"/>
          <p:nvPr/>
        </p:nvSpPr>
        <p:spPr>
          <a:xfrm>
            <a:off x="512350" y="5724750"/>
            <a:ext cx="99744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a:solidFill>
                  <a:schemeClr val="dk1"/>
                </a:solidFill>
              </a:rPr>
              <a:t>Will you do the sampling? Identify and justify the type of sampling to be used for the dataset</a:t>
            </a:r>
            <a:endParaRPr b="1">
              <a:solidFill>
                <a:schemeClr val="dk1"/>
              </a:solidFill>
            </a:endParaRPr>
          </a:p>
          <a:p>
            <a:pPr indent="0" lvl="0" marL="0" rtl="0" algn="l">
              <a:lnSpc>
                <a:spcPct val="115000"/>
              </a:lnSpc>
              <a:spcBef>
                <a:spcPts val="0"/>
              </a:spcBef>
              <a:spcAft>
                <a:spcPts val="0"/>
              </a:spcAft>
              <a:buNone/>
            </a:pPr>
            <a:r>
              <a:rPr lang="en-US">
                <a:solidFill>
                  <a:schemeClr val="dk1"/>
                </a:solidFill>
              </a:rPr>
              <a:t>Yes, sampling will be done, the Random sampling is chosen because it gives every record in the dataset an equal chance of being selected, which helps avoid bias and ensures the sample represents the overall population</a:t>
            </a:r>
            <a:r>
              <a:rPr b="1" lang="en-US">
                <a:solidFill>
                  <a:schemeClr val="dk1"/>
                </a:solidFill>
              </a:rPr>
              <a:t>.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4" name="Shape 194"/>
        <p:cNvGrpSpPr/>
        <p:nvPr/>
      </p:nvGrpSpPr>
      <p:grpSpPr>
        <a:xfrm>
          <a:off x="0" y="0"/>
          <a:ext cx="0" cy="0"/>
          <a:chOff x="0" y="0"/>
          <a:chExt cx="0" cy="0"/>
        </a:xfrm>
      </p:grpSpPr>
      <p:sp>
        <p:nvSpPr>
          <p:cNvPr id="195" name="Google Shape;195;p9"/>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96" name="Google Shape;196;p9"/>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97" name="Google Shape;197;p9"/>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98" name="Google Shape;198;p9"/>
          <p:cNvSpPr txBox="1"/>
          <p:nvPr>
            <p:ph type="ctrTitle"/>
          </p:nvPr>
        </p:nvSpPr>
        <p:spPr>
          <a:xfrm>
            <a:off x="1285241" y="1008993"/>
            <a:ext cx="9231410" cy="3542045"/>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11500"/>
              <a:buFont typeface="Play"/>
              <a:buNone/>
            </a:pPr>
            <a:r>
              <a:rPr b="1" lang="en-US" sz="11500"/>
              <a:t>Derivable 2</a:t>
            </a:r>
            <a:endParaRPr sz="11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500"/>
                                  </p:stCondLst>
                                  <p:childTnLst>
                                    <p:set>
                                      <p:cBhvr>
                                        <p:cTn dur="1" fill="hold">
                                          <p:stCondLst>
                                            <p:cond delay="0"/>
                                          </p:stCondLst>
                                        </p:cTn>
                                        <p:tgtEl>
                                          <p:spTgt spid="198"/>
                                        </p:tgtEl>
                                        <p:attrNameLst>
                                          <p:attrName>style.visibility</p:attrName>
                                        </p:attrNameLst>
                                      </p:cBhvr>
                                      <p:to>
                                        <p:strVal val="visible"/>
                                      </p:to>
                                    </p:set>
                                    <p:animEffect filter="fade" transition="in">
                                      <p:cBhvr>
                                        <p:cTn dur="1000"/>
                                        <p:tgtEl>
                                          <p:spTgt spid="1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2" name="Shape 202"/>
        <p:cNvGrpSpPr/>
        <p:nvPr/>
      </p:nvGrpSpPr>
      <p:grpSpPr>
        <a:xfrm>
          <a:off x="0" y="0"/>
          <a:ext cx="0" cy="0"/>
          <a:chOff x="0" y="0"/>
          <a:chExt cx="0" cy="0"/>
        </a:xfrm>
      </p:grpSpPr>
      <p:sp>
        <p:nvSpPr>
          <p:cNvPr id="203" name="Google Shape;203;p10"/>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04" name="Google Shape;204;p10"/>
          <p:cNvGrpSpPr/>
          <p:nvPr/>
        </p:nvGrpSpPr>
        <p:grpSpPr>
          <a:xfrm>
            <a:off x="4" y="1216597"/>
            <a:ext cx="731521" cy="673460"/>
            <a:chOff x="3940602" y="308034"/>
            <a:chExt cx="2116791" cy="3428999"/>
          </a:xfrm>
        </p:grpSpPr>
        <p:sp>
          <p:nvSpPr>
            <p:cNvPr id="205" name="Google Shape;205;p10"/>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06" name="Google Shape;206;p10"/>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07" name="Google Shape;207;p10"/>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208" name="Google Shape;208;p10"/>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09" name="Google Shape;209;p10"/>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Hamdah</a:t>
            </a:r>
            <a:endParaRPr/>
          </a:p>
        </p:txBody>
      </p:sp>
      <p:sp>
        <p:nvSpPr>
          <p:cNvPr id="210" name="Google Shape;210;p10"/>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lnSpcReduction="10000"/>
          </a:bodyPr>
          <a:lstStyle/>
          <a:p>
            <a:pPr indent="-228600" lvl="0" marL="228600" rtl="0" algn="l">
              <a:lnSpc>
                <a:spcPct val="90000"/>
              </a:lnSpc>
              <a:spcBef>
                <a:spcPts val="0"/>
              </a:spcBef>
              <a:spcAft>
                <a:spcPts val="0"/>
              </a:spcAft>
              <a:buClr>
                <a:schemeClr val="dk1"/>
              </a:buClr>
              <a:buSzPct val="100000"/>
              <a:buChar char="•"/>
            </a:pPr>
            <a:r>
              <a:rPr lang="en-US"/>
              <a:t>In Deliverable 2, the collaboration among our group members made it possible to execute the Python code for descriptive analysis. We utilized some methods to calculate the mean, IQR, skewness, and frequency tables. Cooperation among us enabled us to get a grasp of the value's meaning and the code's operation in a stepwise manner. The code execution allowed us to visualize the dataset's patterns more clearly. Overall, this section was beneficial in upgrading our capabilities in output reading and comprehension of fundamental data statistics.</a:t>
            </a:r>
            <a:endParaRPr/>
          </a:p>
        </p:txBody>
      </p:sp>
      <p:cxnSp>
        <p:nvCxnSpPr>
          <p:cNvPr id="211" name="Google Shape;211;p10"/>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5" name="Shape 215"/>
        <p:cNvGrpSpPr/>
        <p:nvPr/>
      </p:nvGrpSpPr>
      <p:grpSpPr>
        <a:xfrm>
          <a:off x="0" y="0"/>
          <a:ext cx="0" cy="0"/>
          <a:chOff x="0" y="0"/>
          <a:chExt cx="0" cy="0"/>
        </a:xfrm>
      </p:grpSpPr>
      <p:sp>
        <p:nvSpPr>
          <p:cNvPr id="216" name="Google Shape;216;p11"/>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17" name="Google Shape;217;p11"/>
          <p:cNvGrpSpPr/>
          <p:nvPr/>
        </p:nvGrpSpPr>
        <p:grpSpPr>
          <a:xfrm>
            <a:off x="4" y="1216597"/>
            <a:ext cx="731521" cy="673460"/>
            <a:chOff x="3940602" y="308034"/>
            <a:chExt cx="2116791" cy="3428999"/>
          </a:xfrm>
        </p:grpSpPr>
        <p:sp>
          <p:nvSpPr>
            <p:cNvPr id="218" name="Google Shape;218;p11"/>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19" name="Google Shape;219;p11"/>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20" name="Google Shape;220;p11"/>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221" name="Google Shape;221;p11"/>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22" name="Google Shape;222;p11"/>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Maraim </a:t>
            </a:r>
            <a:endParaRPr/>
          </a:p>
        </p:txBody>
      </p:sp>
      <p:sp>
        <p:nvSpPr>
          <p:cNvPr id="223" name="Google Shape;223;p11"/>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For Deliverable 2, Python was employed to generate random samples and derive descriptive statistics. Initially, a few lines of code produced errors, yet the group collectively resolved these bugs. The utilization of sampling code facilitated our grasp of data alteration when only a portion of the dataset is chosen. The collaboration made the task effortless and allowed everyone to realize the bond between sampling and statistics.</a:t>
            </a:r>
            <a:endParaRPr/>
          </a:p>
        </p:txBody>
      </p:sp>
      <p:cxnSp>
        <p:nvCxnSpPr>
          <p:cNvPr id="224" name="Google Shape;224;p11"/>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12"/>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30" name="Google Shape;230;p12"/>
          <p:cNvGrpSpPr/>
          <p:nvPr/>
        </p:nvGrpSpPr>
        <p:grpSpPr>
          <a:xfrm>
            <a:off x="4" y="1216597"/>
            <a:ext cx="731521" cy="673460"/>
            <a:chOff x="3940602" y="308034"/>
            <a:chExt cx="2116791" cy="3428999"/>
          </a:xfrm>
        </p:grpSpPr>
        <p:sp>
          <p:nvSpPr>
            <p:cNvPr id="231" name="Google Shape;231;p12"/>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32" name="Google Shape;232;p12"/>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33" name="Google Shape;233;p12"/>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234" name="Google Shape;234;p12"/>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35" name="Google Shape;235;p12"/>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Afra </a:t>
            </a:r>
            <a:endParaRPr/>
          </a:p>
        </p:txBody>
      </p:sp>
      <p:sp>
        <p:nvSpPr>
          <p:cNvPr id="236" name="Google Shape;236;p12"/>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In Deliverable 2, the distribution of coding tasks was conducted by our team. The coder wrote the code; the checker reviewed the results and the rest assisted in interpreting the statistics. Our totaling and the use of Python libraries like pandas and matplotlib made data visible. Understanding how descriptive analysis worked with large datasets was a team effort. The whole process was made easier with teamwork.</a:t>
            </a:r>
            <a:endParaRPr/>
          </a:p>
        </p:txBody>
      </p:sp>
      <p:cxnSp>
        <p:nvCxnSpPr>
          <p:cNvPr id="237" name="Google Shape;237;p12"/>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1" name="Shape 241"/>
        <p:cNvGrpSpPr/>
        <p:nvPr/>
      </p:nvGrpSpPr>
      <p:grpSpPr>
        <a:xfrm>
          <a:off x="0" y="0"/>
          <a:ext cx="0" cy="0"/>
          <a:chOff x="0" y="0"/>
          <a:chExt cx="0" cy="0"/>
        </a:xfrm>
      </p:grpSpPr>
      <p:sp>
        <p:nvSpPr>
          <p:cNvPr id="242" name="Google Shape;242;p13"/>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43" name="Google Shape;243;p13"/>
          <p:cNvGrpSpPr/>
          <p:nvPr/>
        </p:nvGrpSpPr>
        <p:grpSpPr>
          <a:xfrm>
            <a:off x="4" y="1216597"/>
            <a:ext cx="731521" cy="673460"/>
            <a:chOff x="3940602" y="308034"/>
            <a:chExt cx="2116791" cy="3428999"/>
          </a:xfrm>
        </p:grpSpPr>
        <p:sp>
          <p:nvSpPr>
            <p:cNvPr id="244" name="Google Shape;244;p13"/>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5" name="Google Shape;245;p13"/>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6" name="Google Shape;246;p13"/>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247" name="Google Shape;247;p13"/>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8" name="Google Shape;248;p13"/>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Shaimaa </a:t>
            </a:r>
            <a:endParaRPr/>
          </a:p>
        </p:txBody>
      </p:sp>
      <p:sp>
        <p:nvSpPr>
          <p:cNvPr id="249" name="Google Shape;249;p13"/>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In Deliverable 2, the distribution of coding tasks was conducted by our team. The coder wrote the code; the checker reviewed the results and the rest assisted in interpreting the statistics. Our totaling and the use of Python libraries like pandas and matplotlib made data visible. Understanding how descriptive analysis worked with large datasets was a team effort. The whole process was made easier with teamwork.</a:t>
            </a:r>
            <a:endParaRPr/>
          </a:p>
        </p:txBody>
      </p:sp>
      <p:cxnSp>
        <p:nvCxnSpPr>
          <p:cNvPr id="250" name="Google Shape;250;p13"/>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g3a953708ef8_2_5"/>
          <p:cNvSpPr txBox="1"/>
          <p:nvPr/>
        </p:nvSpPr>
        <p:spPr>
          <a:xfrm>
            <a:off x="496850" y="536450"/>
            <a:ext cx="11289900" cy="780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sz="1800">
                <a:solidFill>
                  <a:schemeClr val="dk1"/>
                </a:solidFill>
              </a:rPr>
              <a:t>create a program to random sampling of size 150 and find the descriptive statistics for the dependent variables </a:t>
            </a:r>
            <a:endParaRPr sz="1800">
              <a:solidFill>
                <a:schemeClr val="dk1"/>
              </a:solidFill>
            </a:endParaRPr>
          </a:p>
        </p:txBody>
      </p:sp>
      <p:pic>
        <p:nvPicPr>
          <p:cNvPr id="256" name="Google Shape;256;g3a953708ef8_2_5"/>
          <p:cNvPicPr preferRelativeResize="0"/>
          <p:nvPr/>
        </p:nvPicPr>
        <p:blipFill>
          <a:blip r:embed="rId3">
            <a:alphaModFix/>
          </a:blip>
          <a:stretch>
            <a:fillRect/>
          </a:stretch>
        </p:blipFill>
        <p:spPr>
          <a:xfrm>
            <a:off x="7679100" y="3485725"/>
            <a:ext cx="4512901" cy="3462026"/>
          </a:xfrm>
          <a:prstGeom prst="rect">
            <a:avLst/>
          </a:prstGeom>
          <a:noFill/>
          <a:ln>
            <a:noFill/>
          </a:ln>
        </p:spPr>
      </p:pic>
      <p:pic>
        <p:nvPicPr>
          <p:cNvPr id="257" name="Google Shape;257;g3a953708ef8_2_5"/>
          <p:cNvPicPr preferRelativeResize="0"/>
          <p:nvPr/>
        </p:nvPicPr>
        <p:blipFill>
          <a:blip r:embed="rId4">
            <a:alphaModFix/>
          </a:blip>
          <a:stretch>
            <a:fillRect/>
          </a:stretch>
        </p:blipFill>
        <p:spPr>
          <a:xfrm>
            <a:off x="3774787" y="3738950"/>
            <a:ext cx="3774775" cy="3208800"/>
          </a:xfrm>
          <a:prstGeom prst="rect">
            <a:avLst/>
          </a:prstGeom>
          <a:noFill/>
          <a:ln>
            <a:noFill/>
          </a:ln>
        </p:spPr>
      </p:pic>
      <p:pic>
        <p:nvPicPr>
          <p:cNvPr id="258" name="Google Shape;258;g3a953708ef8_2_5"/>
          <p:cNvPicPr preferRelativeResize="0"/>
          <p:nvPr/>
        </p:nvPicPr>
        <p:blipFill>
          <a:blip r:embed="rId5">
            <a:alphaModFix/>
          </a:blip>
          <a:stretch>
            <a:fillRect/>
          </a:stretch>
        </p:blipFill>
        <p:spPr>
          <a:xfrm>
            <a:off x="0" y="3360940"/>
            <a:ext cx="3774775" cy="3460210"/>
          </a:xfrm>
          <a:prstGeom prst="rect">
            <a:avLst/>
          </a:prstGeom>
          <a:noFill/>
          <a:ln>
            <a:noFill/>
          </a:ln>
        </p:spPr>
      </p:pic>
      <p:sp>
        <p:nvSpPr>
          <p:cNvPr id="259" name="Google Shape;259;g3a953708ef8_2_5"/>
          <p:cNvSpPr txBox="1"/>
          <p:nvPr/>
        </p:nvSpPr>
        <p:spPr>
          <a:xfrm>
            <a:off x="1547350" y="1448250"/>
            <a:ext cx="9619800" cy="1354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900">
                <a:solidFill>
                  <a:schemeClr val="dk1"/>
                </a:solidFill>
              </a:rPr>
              <a:t>here is what the </a:t>
            </a:r>
            <a:r>
              <a:rPr lang="en-US" sz="1900">
                <a:solidFill>
                  <a:schemeClr val="dk1"/>
                </a:solidFill>
              </a:rPr>
              <a:t>graphs</a:t>
            </a:r>
            <a:r>
              <a:rPr lang="en-US" sz="1900">
                <a:solidFill>
                  <a:schemeClr val="dk1"/>
                </a:solidFill>
              </a:rPr>
              <a:t> shows :</a:t>
            </a:r>
            <a:endParaRPr sz="1900">
              <a:solidFill>
                <a:schemeClr val="dk1"/>
              </a:solidFill>
            </a:endParaRPr>
          </a:p>
          <a:p>
            <a:pPr indent="-349250" lvl="0" marL="457200" rtl="0" algn="l">
              <a:spcBef>
                <a:spcPts val="0"/>
              </a:spcBef>
              <a:spcAft>
                <a:spcPts val="0"/>
              </a:spcAft>
              <a:buClr>
                <a:schemeClr val="dk1"/>
              </a:buClr>
              <a:buSzPts val="1900"/>
              <a:buChar char="●"/>
            </a:pPr>
            <a:r>
              <a:rPr lang="en-US" sz="1900">
                <a:solidFill>
                  <a:schemeClr val="dk1"/>
                </a:solidFill>
              </a:rPr>
              <a:t>patient outcome distribution (sample of 150)</a:t>
            </a:r>
            <a:endParaRPr sz="1900">
              <a:solidFill>
                <a:schemeClr val="dk1"/>
              </a:solidFill>
            </a:endParaRPr>
          </a:p>
          <a:p>
            <a:pPr indent="-349250" lvl="0" marL="457200" rtl="0" algn="l">
              <a:spcBef>
                <a:spcPts val="0"/>
              </a:spcBef>
              <a:spcAft>
                <a:spcPts val="0"/>
              </a:spcAft>
              <a:buClr>
                <a:schemeClr val="dk1"/>
              </a:buClr>
              <a:buSzPts val="1900"/>
              <a:buChar char="●"/>
            </a:pPr>
            <a:r>
              <a:rPr lang="en-US" sz="1900">
                <a:solidFill>
                  <a:schemeClr val="dk1"/>
                </a:solidFill>
              </a:rPr>
              <a:t>distribution of causes of death (sample of 150 patients)</a:t>
            </a:r>
            <a:endParaRPr sz="1900">
              <a:solidFill>
                <a:schemeClr val="dk1"/>
              </a:solidFill>
            </a:endParaRPr>
          </a:p>
          <a:p>
            <a:pPr indent="-349250" lvl="0" marL="457200" rtl="0" algn="l">
              <a:spcBef>
                <a:spcPts val="0"/>
              </a:spcBef>
              <a:spcAft>
                <a:spcPts val="0"/>
              </a:spcAft>
              <a:buClr>
                <a:schemeClr val="dk1"/>
              </a:buClr>
              <a:buSzPts val="1900"/>
              <a:buChar char="●"/>
            </a:pPr>
            <a:r>
              <a:rPr lang="en-US" sz="1900">
                <a:solidFill>
                  <a:schemeClr val="dk1"/>
                </a:solidFill>
              </a:rPr>
              <a:t>patients survival status (based on death_date)</a:t>
            </a:r>
            <a:endParaRPr sz="19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g3a953708ef8_0_9"/>
          <p:cNvSpPr txBox="1"/>
          <p:nvPr/>
        </p:nvSpPr>
        <p:spPr>
          <a:xfrm>
            <a:off x="515350" y="376575"/>
            <a:ext cx="10914600" cy="13914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0"/>
              </a:spcBef>
              <a:spcAft>
                <a:spcPts val="0"/>
              </a:spcAft>
              <a:buNone/>
            </a:pPr>
            <a:r>
              <a:rPr b="1" lang="en-US">
                <a:solidFill>
                  <a:schemeClr val="dk1"/>
                </a:solidFill>
              </a:rPr>
              <a:t>Visualize the dependent variable by the Graph/Chart of the following using Python Program:</a:t>
            </a:r>
            <a:endParaRPr b="1">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Scatter Plot: Age vs Cancer Stage</a:t>
            </a:r>
            <a:endParaRPr b="1">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Box Plot: Age by Cancer Stage</a:t>
            </a:r>
            <a:endParaRPr b="1" sz="1200">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Histogram: Age &amp; Cancer Stage Distribution</a:t>
            </a:r>
            <a:endParaRPr b="1">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Heat Map: Correlation Between Patient Characteristics</a:t>
            </a:r>
            <a:endParaRPr b="1" sz="1100">
              <a:solidFill>
                <a:schemeClr val="dk1"/>
              </a:solidFill>
            </a:endParaRPr>
          </a:p>
        </p:txBody>
      </p:sp>
      <p:pic>
        <p:nvPicPr>
          <p:cNvPr id="265" name="Google Shape;265;g3a953708ef8_0_9"/>
          <p:cNvPicPr preferRelativeResize="0"/>
          <p:nvPr/>
        </p:nvPicPr>
        <p:blipFill>
          <a:blip r:embed="rId3">
            <a:alphaModFix/>
          </a:blip>
          <a:stretch>
            <a:fillRect/>
          </a:stretch>
        </p:blipFill>
        <p:spPr>
          <a:xfrm>
            <a:off x="310950" y="1801950"/>
            <a:ext cx="3990900" cy="2819517"/>
          </a:xfrm>
          <a:prstGeom prst="rect">
            <a:avLst/>
          </a:prstGeom>
          <a:noFill/>
          <a:ln>
            <a:noFill/>
          </a:ln>
        </p:spPr>
      </p:pic>
      <p:pic>
        <p:nvPicPr>
          <p:cNvPr id="266" name="Google Shape;266;g3a953708ef8_0_9"/>
          <p:cNvPicPr preferRelativeResize="0"/>
          <p:nvPr/>
        </p:nvPicPr>
        <p:blipFill>
          <a:blip r:embed="rId4">
            <a:alphaModFix/>
          </a:blip>
          <a:stretch>
            <a:fillRect/>
          </a:stretch>
        </p:blipFill>
        <p:spPr>
          <a:xfrm>
            <a:off x="4546450" y="1732200"/>
            <a:ext cx="3990900" cy="2959025"/>
          </a:xfrm>
          <a:prstGeom prst="rect">
            <a:avLst/>
          </a:prstGeom>
          <a:noFill/>
          <a:ln>
            <a:noFill/>
          </a:ln>
        </p:spPr>
      </p:pic>
      <p:pic>
        <p:nvPicPr>
          <p:cNvPr id="267" name="Google Shape;267;g3a953708ef8_0_9"/>
          <p:cNvPicPr preferRelativeResize="0"/>
          <p:nvPr/>
        </p:nvPicPr>
        <p:blipFill>
          <a:blip r:embed="rId5">
            <a:alphaModFix/>
          </a:blip>
          <a:stretch>
            <a:fillRect/>
          </a:stretch>
        </p:blipFill>
        <p:spPr>
          <a:xfrm>
            <a:off x="1818100" y="4621475"/>
            <a:ext cx="3802100" cy="2236525"/>
          </a:xfrm>
          <a:prstGeom prst="rect">
            <a:avLst/>
          </a:prstGeom>
          <a:noFill/>
          <a:ln>
            <a:noFill/>
          </a:ln>
        </p:spPr>
      </p:pic>
      <p:pic>
        <p:nvPicPr>
          <p:cNvPr id="268" name="Google Shape;268;g3a953708ef8_0_9"/>
          <p:cNvPicPr preferRelativeResize="0"/>
          <p:nvPr/>
        </p:nvPicPr>
        <p:blipFill>
          <a:blip r:embed="rId6">
            <a:alphaModFix/>
          </a:blip>
          <a:stretch>
            <a:fillRect/>
          </a:stretch>
        </p:blipFill>
        <p:spPr>
          <a:xfrm>
            <a:off x="7626150" y="4552950"/>
            <a:ext cx="4238625" cy="2305050"/>
          </a:xfrm>
          <a:prstGeom prst="rect">
            <a:avLst/>
          </a:prstGeom>
          <a:noFill/>
          <a:ln>
            <a:noFill/>
          </a:ln>
        </p:spPr>
      </p:pic>
      <p:pic>
        <p:nvPicPr>
          <p:cNvPr id="269" name="Google Shape;269;g3a953708ef8_0_9"/>
          <p:cNvPicPr preferRelativeResize="0"/>
          <p:nvPr/>
        </p:nvPicPr>
        <p:blipFill>
          <a:blip r:embed="rId7">
            <a:alphaModFix/>
          </a:blip>
          <a:stretch>
            <a:fillRect/>
          </a:stretch>
        </p:blipFill>
        <p:spPr>
          <a:xfrm>
            <a:off x="8537350" y="1135550"/>
            <a:ext cx="3327425" cy="246175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3" name="Shape 273"/>
        <p:cNvGrpSpPr/>
        <p:nvPr/>
      </p:nvGrpSpPr>
      <p:grpSpPr>
        <a:xfrm>
          <a:off x="0" y="0"/>
          <a:ext cx="0" cy="0"/>
          <a:chOff x="0" y="0"/>
          <a:chExt cx="0" cy="0"/>
        </a:xfrm>
      </p:grpSpPr>
      <p:sp>
        <p:nvSpPr>
          <p:cNvPr id="274" name="Google Shape;274;p14"/>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75" name="Google Shape;275;p14"/>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76" name="Google Shape;276;p14"/>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77" name="Google Shape;277;p14"/>
          <p:cNvSpPr txBox="1"/>
          <p:nvPr>
            <p:ph type="ctrTitle"/>
          </p:nvPr>
        </p:nvSpPr>
        <p:spPr>
          <a:xfrm>
            <a:off x="1285241" y="1008993"/>
            <a:ext cx="9231410" cy="3542045"/>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11500"/>
              <a:buFont typeface="Play"/>
              <a:buNone/>
            </a:pPr>
            <a:r>
              <a:rPr b="1" lang="en-US" sz="11500"/>
              <a:t>Derivable 3</a:t>
            </a:r>
            <a:endParaRPr sz="11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500"/>
                                  </p:stCondLst>
                                  <p:childTnLst>
                                    <p:set>
                                      <p:cBhvr>
                                        <p:cTn dur="1" fill="hold">
                                          <p:stCondLst>
                                            <p:cond delay="0"/>
                                          </p:stCondLst>
                                        </p:cTn>
                                        <p:tgtEl>
                                          <p:spTgt spid="277"/>
                                        </p:tgtEl>
                                        <p:attrNameLst>
                                          <p:attrName>style.visibility</p:attrName>
                                        </p:attrNameLst>
                                      </p:cBhvr>
                                      <p:to>
                                        <p:strVal val="visible"/>
                                      </p:to>
                                    </p:set>
                                    <p:animEffect filter="fade" transition="in">
                                      <p:cBhvr>
                                        <p:cTn dur="400"/>
                                        <p:tgtEl>
                                          <p:spTgt spid="2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1" name="Shape 281"/>
        <p:cNvGrpSpPr/>
        <p:nvPr/>
      </p:nvGrpSpPr>
      <p:grpSpPr>
        <a:xfrm>
          <a:off x="0" y="0"/>
          <a:ext cx="0" cy="0"/>
          <a:chOff x="0" y="0"/>
          <a:chExt cx="0" cy="0"/>
        </a:xfrm>
      </p:grpSpPr>
      <p:sp>
        <p:nvSpPr>
          <p:cNvPr id="282" name="Google Shape;282;p15"/>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83" name="Google Shape;283;p15"/>
          <p:cNvGrpSpPr/>
          <p:nvPr/>
        </p:nvGrpSpPr>
        <p:grpSpPr>
          <a:xfrm>
            <a:off x="4" y="1216597"/>
            <a:ext cx="731521" cy="673460"/>
            <a:chOff x="3940602" y="308034"/>
            <a:chExt cx="2116791" cy="3428999"/>
          </a:xfrm>
        </p:grpSpPr>
        <p:sp>
          <p:nvSpPr>
            <p:cNvPr id="284" name="Google Shape;284;p15"/>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85" name="Google Shape;285;p15"/>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86" name="Google Shape;286;p15"/>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287" name="Google Shape;287;p15"/>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88" name="Google Shape;288;p15"/>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Hamdah</a:t>
            </a:r>
            <a:endParaRPr/>
          </a:p>
        </p:txBody>
      </p:sp>
      <p:sp>
        <p:nvSpPr>
          <p:cNvPr id="289" name="Google Shape;289;p15"/>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a:bodyPr>
          <a:lstStyle/>
          <a:p>
            <a:pPr indent="-228600" lvl="0" marL="228600" rtl="0" algn="l">
              <a:lnSpc>
                <a:spcPct val="90000"/>
              </a:lnSpc>
              <a:spcBef>
                <a:spcPts val="0"/>
              </a:spcBef>
              <a:spcAft>
                <a:spcPts val="0"/>
              </a:spcAft>
              <a:buClr>
                <a:schemeClr val="dk1"/>
              </a:buClr>
              <a:buSzPct val="100000"/>
              <a:buChar char="•"/>
            </a:pPr>
            <a:r>
              <a:rPr lang="en-US"/>
              <a:t>Our group delivered clustering models based on K-Means and Hierarchical Clustering in this deliverable. We utilized parameters such as Age and Weight and executed the code to observe the creation of clusters. All the members of the team expressed their interpretation of the cluster diagram. The collaboration among us enabled us to discover the hidden patterns in the dataset and to see how the unsupervised learning method can group patients with similar characteristics.</a:t>
            </a:r>
            <a:endParaRPr/>
          </a:p>
        </p:txBody>
      </p:sp>
      <p:cxnSp>
        <p:nvCxnSpPr>
          <p:cNvPr id="290" name="Google Shape;290;p15"/>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4" name="Shape 294"/>
        <p:cNvGrpSpPr/>
        <p:nvPr/>
      </p:nvGrpSpPr>
      <p:grpSpPr>
        <a:xfrm>
          <a:off x="0" y="0"/>
          <a:ext cx="0" cy="0"/>
          <a:chOff x="0" y="0"/>
          <a:chExt cx="0" cy="0"/>
        </a:xfrm>
      </p:grpSpPr>
      <p:sp>
        <p:nvSpPr>
          <p:cNvPr id="295" name="Google Shape;295;p16"/>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296" name="Google Shape;296;p16"/>
          <p:cNvGrpSpPr/>
          <p:nvPr/>
        </p:nvGrpSpPr>
        <p:grpSpPr>
          <a:xfrm>
            <a:off x="4" y="1216597"/>
            <a:ext cx="731521" cy="673460"/>
            <a:chOff x="3940602" y="308034"/>
            <a:chExt cx="2116791" cy="3428999"/>
          </a:xfrm>
        </p:grpSpPr>
        <p:sp>
          <p:nvSpPr>
            <p:cNvPr id="297" name="Google Shape;297;p16"/>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8" name="Google Shape;298;p16"/>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9" name="Google Shape;299;p16"/>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00" name="Google Shape;300;p16"/>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01" name="Google Shape;301;p16"/>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Maraim</a:t>
            </a:r>
            <a:endParaRPr/>
          </a:p>
        </p:txBody>
      </p:sp>
      <p:sp>
        <p:nvSpPr>
          <p:cNvPr id="302" name="Google Shape;302;p16"/>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a:bodyPr>
          <a:lstStyle/>
          <a:p>
            <a:pPr indent="-228600" lvl="0" marL="228600" rtl="0" algn="l">
              <a:lnSpc>
                <a:spcPct val="90000"/>
              </a:lnSpc>
              <a:spcBef>
                <a:spcPts val="0"/>
              </a:spcBef>
              <a:spcAft>
                <a:spcPts val="0"/>
              </a:spcAft>
              <a:buClr>
                <a:schemeClr val="dk1"/>
              </a:buClr>
              <a:buSzPct val="100000"/>
              <a:buChar char="•"/>
            </a:pPr>
            <a:r>
              <a:rPr lang="en-US"/>
              <a:t>In Deliverable 3, the Python code for the regression models was executed by our group together. The impact of Age and Height on Weight was analyzed using simple linear regression and multiple linear regression. Teamwork made it easier for us to grasp the concept of the slope, intercept, and R² score. The code running provided us with a better understanding of the way regression operates in actual data. This section developed our competencies in model building and output interpretation.</a:t>
            </a:r>
            <a:endParaRPr/>
          </a:p>
        </p:txBody>
      </p:sp>
      <p:cxnSp>
        <p:nvCxnSpPr>
          <p:cNvPr id="303" name="Google Shape;303;p16"/>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7" name="Shape 307"/>
        <p:cNvGrpSpPr/>
        <p:nvPr/>
      </p:nvGrpSpPr>
      <p:grpSpPr>
        <a:xfrm>
          <a:off x="0" y="0"/>
          <a:ext cx="0" cy="0"/>
          <a:chOff x="0" y="0"/>
          <a:chExt cx="0" cy="0"/>
        </a:xfrm>
      </p:grpSpPr>
      <p:sp>
        <p:nvSpPr>
          <p:cNvPr id="308" name="Google Shape;308;p17"/>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09" name="Google Shape;309;p17"/>
          <p:cNvGrpSpPr/>
          <p:nvPr/>
        </p:nvGrpSpPr>
        <p:grpSpPr>
          <a:xfrm>
            <a:off x="4" y="1216597"/>
            <a:ext cx="731521" cy="673460"/>
            <a:chOff x="3940602" y="308034"/>
            <a:chExt cx="2116791" cy="3428999"/>
          </a:xfrm>
        </p:grpSpPr>
        <p:sp>
          <p:nvSpPr>
            <p:cNvPr id="310" name="Google Shape;310;p17"/>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11" name="Google Shape;311;p17"/>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12" name="Google Shape;312;p17"/>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13" name="Google Shape;313;p17"/>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14" name="Google Shape;314;p17"/>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Afra </a:t>
            </a:r>
            <a:endParaRPr/>
          </a:p>
        </p:txBody>
      </p:sp>
      <p:sp>
        <p:nvSpPr>
          <p:cNvPr id="315" name="Google Shape;315;p17"/>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a:bodyPr>
          <a:lstStyle/>
          <a:p>
            <a:pPr indent="-228600" lvl="0" marL="228600" rtl="0" algn="l">
              <a:lnSpc>
                <a:spcPct val="90000"/>
              </a:lnSpc>
              <a:spcBef>
                <a:spcPts val="0"/>
              </a:spcBef>
              <a:spcAft>
                <a:spcPts val="0"/>
              </a:spcAft>
              <a:buClr>
                <a:schemeClr val="dk1"/>
              </a:buClr>
              <a:buSzPct val="100000"/>
              <a:buChar char="•"/>
            </a:pPr>
            <a:r>
              <a:rPr lang="en-US"/>
              <a:t>Deliverable 3 involved the development of a classifier model using Python for the purpose of predicting the Outcome. The model was trained by applying label encoding and variable with Logistic Regression through Age, Gender, Cancer Stage, and Weight. The entire team supported each other in debugging the code and interpreting the predictions. Collaboration made it more convenient to grasp the working of machine-learning models in terms of their learning from data and making predictions.</a:t>
            </a:r>
            <a:endParaRPr/>
          </a:p>
        </p:txBody>
      </p:sp>
      <p:cxnSp>
        <p:nvCxnSpPr>
          <p:cNvPr id="316" name="Google Shape;316;p17"/>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0" name="Shape 320"/>
        <p:cNvGrpSpPr/>
        <p:nvPr/>
      </p:nvGrpSpPr>
      <p:grpSpPr>
        <a:xfrm>
          <a:off x="0" y="0"/>
          <a:ext cx="0" cy="0"/>
          <a:chOff x="0" y="0"/>
          <a:chExt cx="0" cy="0"/>
        </a:xfrm>
      </p:grpSpPr>
      <p:sp>
        <p:nvSpPr>
          <p:cNvPr id="321" name="Google Shape;321;p18"/>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22" name="Google Shape;322;p18"/>
          <p:cNvGrpSpPr/>
          <p:nvPr/>
        </p:nvGrpSpPr>
        <p:grpSpPr>
          <a:xfrm>
            <a:off x="4" y="1216597"/>
            <a:ext cx="731521" cy="673460"/>
            <a:chOff x="3940602" y="308034"/>
            <a:chExt cx="2116791" cy="3428999"/>
          </a:xfrm>
        </p:grpSpPr>
        <p:sp>
          <p:nvSpPr>
            <p:cNvPr id="323" name="Google Shape;323;p18"/>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24" name="Google Shape;324;p18"/>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25" name="Google Shape;325;p18"/>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26" name="Google Shape;326;p18"/>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27" name="Google Shape;327;p18"/>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Shaimaa</a:t>
            </a:r>
            <a:endParaRPr/>
          </a:p>
        </p:txBody>
      </p:sp>
      <p:sp>
        <p:nvSpPr>
          <p:cNvPr id="328" name="Google Shape;328;p18"/>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During the third deliverable, the group wrote Python code for developing regression, classification, and clustering models. We were coding together, and each clarified the results of the others as a team. This enabled us to grasp the functioning of machine-learning models and the interpretation of their outputs. Collaborative effort not only made the tasks simpler but also enhanced our technical skills.</a:t>
            </a:r>
            <a:endParaRPr/>
          </a:p>
        </p:txBody>
      </p:sp>
      <p:cxnSp>
        <p:nvCxnSpPr>
          <p:cNvPr id="329" name="Google Shape;329;p18"/>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g3a953708ef8_2_10"/>
          <p:cNvSpPr txBox="1"/>
          <p:nvPr/>
        </p:nvSpPr>
        <p:spPr>
          <a:xfrm>
            <a:off x="88800" y="0"/>
            <a:ext cx="8906400" cy="63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600">
                <a:solidFill>
                  <a:schemeClr val="dk1"/>
                </a:solidFill>
              </a:rPr>
              <a:t>Build, train, develop and </a:t>
            </a:r>
            <a:r>
              <a:rPr lang="en-US" sz="2600">
                <a:solidFill>
                  <a:schemeClr val="dk1"/>
                </a:solidFill>
              </a:rPr>
              <a:t>evaluate</a:t>
            </a:r>
            <a:r>
              <a:rPr lang="en-US" sz="2600">
                <a:solidFill>
                  <a:schemeClr val="dk1"/>
                </a:solidFill>
              </a:rPr>
              <a:t> using simple regression, multiple linear regression</a:t>
            </a:r>
            <a:endParaRPr sz="2600">
              <a:solidFill>
                <a:schemeClr val="dk1"/>
              </a:solidFill>
            </a:endParaRPr>
          </a:p>
        </p:txBody>
      </p:sp>
      <p:pic>
        <p:nvPicPr>
          <p:cNvPr id="335" name="Google Shape;335;g3a953708ef8_2_10"/>
          <p:cNvPicPr preferRelativeResize="0"/>
          <p:nvPr/>
        </p:nvPicPr>
        <p:blipFill>
          <a:blip r:embed="rId3">
            <a:alphaModFix/>
          </a:blip>
          <a:stretch>
            <a:fillRect/>
          </a:stretch>
        </p:blipFill>
        <p:spPr>
          <a:xfrm>
            <a:off x="0" y="1061750"/>
            <a:ext cx="5778250" cy="1171275"/>
          </a:xfrm>
          <a:prstGeom prst="rect">
            <a:avLst/>
          </a:prstGeom>
          <a:noFill/>
          <a:ln>
            <a:noFill/>
          </a:ln>
        </p:spPr>
      </p:pic>
      <p:pic>
        <p:nvPicPr>
          <p:cNvPr id="336" name="Google Shape;336;g3a953708ef8_2_10"/>
          <p:cNvPicPr preferRelativeResize="0"/>
          <p:nvPr/>
        </p:nvPicPr>
        <p:blipFill>
          <a:blip r:embed="rId4">
            <a:alphaModFix/>
          </a:blip>
          <a:stretch>
            <a:fillRect/>
          </a:stretch>
        </p:blipFill>
        <p:spPr>
          <a:xfrm>
            <a:off x="5867050" y="1061738"/>
            <a:ext cx="6324950" cy="1171287"/>
          </a:xfrm>
          <a:prstGeom prst="rect">
            <a:avLst/>
          </a:prstGeom>
          <a:noFill/>
          <a:ln>
            <a:noFill/>
          </a:ln>
        </p:spPr>
      </p:pic>
      <p:sp>
        <p:nvSpPr>
          <p:cNvPr id="337" name="Google Shape;337;g3a953708ef8_2_10"/>
          <p:cNvSpPr txBox="1"/>
          <p:nvPr/>
        </p:nvSpPr>
        <p:spPr>
          <a:xfrm>
            <a:off x="0" y="2539425"/>
            <a:ext cx="10815000" cy="356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US" sz="1600">
                <a:solidFill>
                  <a:schemeClr val="dk1"/>
                </a:solidFill>
              </a:rPr>
              <a:t>Predict the value e of the dependent variable from the different classifier. The four classifiers used are:</a:t>
            </a:r>
            <a:r>
              <a:rPr b="1" lang="en-US" sz="1700">
                <a:solidFill>
                  <a:schemeClr val="dk1"/>
                </a:solidFill>
                <a:latin typeface="Times New Roman"/>
                <a:ea typeface="Times New Roman"/>
                <a:cs typeface="Times New Roman"/>
                <a:sym typeface="Times New Roman"/>
              </a:rPr>
              <a:t> </a:t>
            </a:r>
            <a:r>
              <a:rPr b="1" lang="en-US" sz="1600">
                <a:solidFill>
                  <a:schemeClr val="dk1"/>
                </a:solidFill>
              </a:rPr>
              <a:t>Logistic Regression, K-Nearest Neighbors (KNN), Naïve Bayes, and Decision Tree.</a:t>
            </a:r>
            <a:endParaRPr b="1" sz="1600">
              <a:solidFill>
                <a:schemeClr val="dk1"/>
              </a:solidFill>
            </a:endParaRPr>
          </a:p>
          <a:p>
            <a:pPr indent="0" lvl="0" marL="0" rtl="0" algn="l">
              <a:spcBef>
                <a:spcPts val="1200"/>
              </a:spcBef>
              <a:spcAft>
                <a:spcPts val="0"/>
              </a:spcAft>
              <a:buNone/>
            </a:pPr>
            <a:r>
              <a:t/>
            </a:r>
            <a:endParaRPr sz="2800">
              <a:solidFill>
                <a:schemeClr val="dk1"/>
              </a:solidFill>
            </a:endParaRPr>
          </a:p>
        </p:txBody>
      </p:sp>
      <p:pic>
        <p:nvPicPr>
          <p:cNvPr id="338" name="Google Shape;338;g3a953708ef8_2_10"/>
          <p:cNvPicPr preferRelativeResize="0"/>
          <p:nvPr/>
        </p:nvPicPr>
        <p:blipFill>
          <a:blip r:embed="rId5">
            <a:alphaModFix/>
          </a:blip>
          <a:stretch>
            <a:fillRect/>
          </a:stretch>
        </p:blipFill>
        <p:spPr>
          <a:xfrm>
            <a:off x="0" y="3202225"/>
            <a:ext cx="3418675" cy="3070899"/>
          </a:xfrm>
          <a:prstGeom prst="rect">
            <a:avLst/>
          </a:prstGeom>
          <a:noFill/>
          <a:ln>
            <a:noFill/>
          </a:ln>
        </p:spPr>
      </p:pic>
      <p:pic>
        <p:nvPicPr>
          <p:cNvPr id="339" name="Google Shape;339;g3a953708ef8_2_10"/>
          <p:cNvPicPr preferRelativeResize="0"/>
          <p:nvPr/>
        </p:nvPicPr>
        <p:blipFill>
          <a:blip r:embed="rId6">
            <a:alphaModFix/>
          </a:blip>
          <a:stretch>
            <a:fillRect/>
          </a:stretch>
        </p:blipFill>
        <p:spPr>
          <a:xfrm>
            <a:off x="88800" y="6027875"/>
            <a:ext cx="4191825" cy="830125"/>
          </a:xfrm>
          <a:prstGeom prst="rect">
            <a:avLst/>
          </a:prstGeom>
          <a:noFill/>
          <a:ln>
            <a:noFill/>
          </a:ln>
        </p:spPr>
      </p:pic>
      <p:pic>
        <p:nvPicPr>
          <p:cNvPr id="340" name="Google Shape;340;g3a953708ef8_2_10"/>
          <p:cNvPicPr preferRelativeResize="0"/>
          <p:nvPr/>
        </p:nvPicPr>
        <p:blipFill>
          <a:blip r:embed="rId7">
            <a:alphaModFix/>
          </a:blip>
          <a:stretch>
            <a:fillRect/>
          </a:stretch>
        </p:blipFill>
        <p:spPr>
          <a:xfrm>
            <a:off x="3471122" y="3202225"/>
            <a:ext cx="2995528" cy="3607524"/>
          </a:xfrm>
          <a:prstGeom prst="rect">
            <a:avLst/>
          </a:prstGeom>
          <a:noFill/>
          <a:ln>
            <a:noFill/>
          </a:ln>
        </p:spPr>
      </p:pic>
      <p:pic>
        <p:nvPicPr>
          <p:cNvPr id="341" name="Google Shape;341;g3a953708ef8_2_10"/>
          <p:cNvPicPr preferRelativeResize="0"/>
          <p:nvPr/>
        </p:nvPicPr>
        <p:blipFill>
          <a:blip r:embed="rId8">
            <a:alphaModFix/>
          </a:blip>
          <a:stretch>
            <a:fillRect/>
          </a:stretch>
        </p:blipFill>
        <p:spPr>
          <a:xfrm>
            <a:off x="6981075" y="3367500"/>
            <a:ext cx="4423325" cy="34921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5" name="Shape 345"/>
        <p:cNvGrpSpPr/>
        <p:nvPr/>
      </p:nvGrpSpPr>
      <p:grpSpPr>
        <a:xfrm>
          <a:off x="0" y="0"/>
          <a:ext cx="0" cy="0"/>
          <a:chOff x="0" y="0"/>
          <a:chExt cx="0" cy="0"/>
        </a:xfrm>
      </p:grpSpPr>
      <p:sp>
        <p:nvSpPr>
          <p:cNvPr id="346" name="Google Shape;346;p19"/>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47" name="Google Shape;347;p19"/>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48" name="Google Shape;348;p19"/>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49" name="Google Shape;349;p19"/>
          <p:cNvSpPr txBox="1"/>
          <p:nvPr>
            <p:ph type="ctrTitle"/>
          </p:nvPr>
        </p:nvSpPr>
        <p:spPr>
          <a:xfrm>
            <a:off x="1285241" y="1008993"/>
            <a:ext cx="9231410" cy="3542045"/>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11500"/>
              <a:buFont typeface="Play"/>
              <a:buNone/>
            </a:pPr>
            <a:r>
              <a:rPr b="1" lang="en-US" sz="11500"/>
              <a:t>Derivable 4</a:t>
            </a:r>
            <a:endParaRPr sz="11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500"/>
                                  </p:stCondLst>
                                  <p:childTnLst>
                                    <p:set>
                                      <p:cBhvr>
                                        <p:cTn dur="1" fill="hold">
                                          <p:stCondLst>
                                            <p:cond delay="0"/>
                                          </p:stCondLst>
                                        </p:cTn>
                                        <p:tgtEl>
                                          <p:spTgt spid="349"/>
                                        </p:tgtEl>
                                        <p:attrNameLst>
                                          <p:attrName>style.visibility</p:attrName>
                                        </p:attrNameLst>
                                      </p:cBhvr>
                                      <p:to>
                                        <p:strVal val="visible"/>
                                      </p:to>
                                    </p:set>
                                    <p:animEffect filter="fade" transition="in">
                                      <p:cBhvr>
                                        <p:cTn dur="400"/>
                                        <p:tgtEl>
                                          <p:spTgt spid="3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53" name="Shape 353"/>
        <p:cNvGrpSpPr/>
        <p:nvPr/>
      </p:nvGrpSpPr>
      <p:grpSpPr>
        <a:xfrm>
          <a:off x="0" y="0"/>
          <a:ext cx="0" cy="0"/>
          <a:chOff x="0" y="0"/>
          <a:chExt cx="0" cy="0"/>
        </a:xfrm>
      </p:grpSpPr>
      <p:sp>
        <p:nvSpPr>
          <p:cNvPr id="354" name="Google Shape;354;p20"/>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55" name="Google Shape;355;p20"/>
          <p:cNvGrpSpPr/>
          <p:nvPr/>
        </p:nvGrpSpPr>
        <p:grpSpPr>
          <a:xfrm>
            <a:off x="4" y="1216597"/>
            <a:ext cx="731521" cy="673460"/>
            <a:chOff x="3940602" y="308034"/>
            <a:chExt cx="2116791" cy="3428999"/>
          </a:xfrm>
        </p:grpSpPr>
        <p:sp>
          <p:nvSpPr>
            <p:cNvPr id="356" name="Google Shape;356;p20"/>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57" name="Google Shape;357;p20"/>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58" name="Google Shape;358;p20"/>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59" name="Google Shape;359;p20"/>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60" name="Google Shape;360;p20"/>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Haamdah </a:t>
            </a:r>
            <a:endParaRPr/>
          </a:p>
        </p:txBody>
      </p:sp>
      <p:sp>
        <p:nvSpPr>
          <p:cNvPr id="361" name="Google Shape;361;p20"/>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lnSpcReduction="10000"/>
          </a:bodyPr>
          <a:lstStyle/>
          <a:p>
            <a:pPr indent="-228600" lvl="0" marL="228600" rtl="0" algn="l">
              <a:lnSpc>
                <a:spcPct val="90000"/>
              </a:lnSpc>
              <a:spcBef>
                <a:spcPts val="0"/>
              </a:spcBef>
              <a:spcAft>
                <a:spcPts val="0"/>
              </a:spcAft>
              <a:buClr>
                <a:schemeClr val="dk1"/>
              </a:buClr>
              <a:buSzPct val="100000"/>
              <a:buChar char="•"/>
            </a:pPr>
            <a:r>
              <a:rPr lang="en-US"/>
              <a:t>Our team collaborated each one by creating a GitHub repository and uploading all project files in Deliverable 4. We swept through these learning sessions as a group, assisting each other in understanding how to install Git, link it to GitHub, and structure the directories neatly. The implementation of commands of Git was a hands-on training of how version controlling operates in real scenarios. The teamwork made it all less cumbersome and at the same time we got to know how online code management is done by teams.</a:t>
            </a:r>
            <a:endParaRPr/>
          </a:p>
        </p:txBody>
      </p:sp>
      <p:cxnSp>
        <p:nvCxnSpPr>
          <p:cNvPr id="362" name="Google Shape;362;p20"/>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6" name="Shape 366"/>
        <p:cNvGrpSpPr/>
        <p:nvPr/>
      </p:nvGrpSpPr>
      <p:grpSpPr>
        <a:xfrm>
          <a:off x="0" y="0"/>
          <a:ext cx="0" cy="0"/>
          <a:chOff x="0" y="0"/>
          <a:chExt cx="0" cy="0"/>
        </a:xfrm>
      </p:grpSpPr>
      <p:sp>
        <p:nvSpPr>
          <p:cNvPr id="367" name="Google Shape;367;p21"/>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68" name="Google Shape;368;p21"/>
          <p:cNvGrpSpPr/>
          <p:nvPr/>
        </p:nvGrpSpPr>
        <p:grpSpPr>
          <a:xfrm>
            <a:off x="4" y="1216597"/>
            <a:ext cx="731521" cy="673460"/>
            <a:chOff x="3940602" y="308034"/>
            <a:chExt cx="2116791" cy="3428999"/>
          </a:xfrm>
        </p:grpSpPr>
        <p:sp>
          <p:nvSpPr>
            <p:cNvPr id="369" name="Google Shape;369;p21"/>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70" name="Google Shape;370;p21"/>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71" name="Google Shape;371;p21"/>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72" name="Google Shape;372;p21"/>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73" name="Google Shape;373;p21"/>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Maraim</a:t>
            </a:r>
            <a:endParaRPr/>
          </a:p>
        </p:txBody>
      </p:sp>
      <p:sp>
        <p:nvSpPr>
          <p:cNvPr id="374" name="Google Shape;374;p21"/>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In this deliverable, we managed to master the techniques of cloning the GitHub repository to our machines and using the commands pull and push. We collectively practiced the commands interchangeably, as a result, everybody was familiar with them. Occasionally, there were minor mistakes, but we rectified them as a group. Such collaboration was fruitful in that it enabled us to learn the accurate procedure and comprehend the transfer of files between Git and GitHub.</a:t>
            </a:r>
            <a:endParaRPr/>
          </a:p>
        </p:txBody>
      </p:sp>
      <p:cxnSp>
        <p:nvCxnSpPr>
          <p:cNvPr id="375" name="Google Shape;375;p21"/>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9" name="Shape 379"/>
        <p:cNvGrpSpPr/>
        <p:nvPr/>
      </p:nvGrpSpPr>
      <p:grpSpPr>
        <a:xfrm>
          <a:off x="0" y="0"/>
          <a:ext cx="0" cy="0"/>
          <a:chOff x="0" y="0"/>
          <a:chExt cx="0" cy="0"/>
        </a:xfrm>
      </p:grpSpPr>
      <p:sp>
        <p:nvSpPr>
          <p:cNvPr id="380" name="Google Shape;380;p22"/>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81" name="Google Shape;381;p22"/>
          <p:cNvGrpSpPr/>
          <p:nvPr/>
        </p:nvGrpSpPr>
        <p:grpSpPr>
          <a:xfrm>
            <a:off x="4" y="1216597"/>
            <a:ext cx="731521" cy="673460"/>
            <a:chOff x="3940602" y="308034"/>
            <a:chExt cx="2116791" cy="3428999"/>
          </a:xfrm>
        </p:grpSpPr>
        <p:sp>
          <p:nvSpPr>
            <p:cNvPr id="382" name="Google Shape;382;p22"/>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83" name="Google Shape;383;p22"/>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84" name="Google Shape;384;p22"/>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85" name="Google Shape;385;p22"/>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86" name="Google Shape;386;p22"/>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Afra </a:t>
            </a:r>
            <a:endParaRPr/>
          </a:p>
        </p:txBody>
      </p:sp>
      <p:sp>
        <p:nvSpPr>
          <p:cNvPr id="387" name="Google Shape;387;p22"/>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fontScale="92500" lnSpcReduction="10000"/>
          </a:bodyPr>
          <a:lstStyle/>
          <a:p>
            <a:pPr indent="-228600" lvl="0" marL="228600" rtl="0" algn="l">
              <a:lnSpc>
                <a:spcPct val="90000"/>
              </a:lnSpc>
              <a:spcBef>
                <a:spcPts val="0"/>
              </a:spcBef>
              <a:spcAft>
                <a:spcPts val="0"/>
              </a:spcAft>
              <a:buClr>
                <a:schemeClr val="dk1"/>
              </a:buClr>
              <a:buSzPct val="100000"/>
              <a:buChar char="•"/>
            </a:pPr>
            <a:r>
              <a:rPr lang="en-US"/>
              <a:t>In the fourth deliverable, the entire team made use of GitHub to deliver and modify the files related to the project. We were in touch with one another and assigned the different tasks in a way that every participant uploaded their respective contributions. Mastering the use of Git commands, we also got to know how the people in the field work together on one and the same project without the worry of files getting mixed up or lost. The whole process was a great help in enhancing our cooperation, planning, and tech skills.</a:t>
            </a:r>
            <a:endParaRPr/>
          </a:p>
        </p:txBody>
      </p:sp>
      <p:cxnSp>
        <p:nvCxnSpPr>
          <p:cNvPr id="388" name="Google Shape;388;p22"/>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2" name="Shape 392"/>
        <p:cNvGrpSpPr/>
        <p:nvPr/>
      </p:nvGrpSpPr>
      <p:grpSpPr>
        <a:xfrm>
          <a:off x="0" y="0"/>
          <a:ext cx="0" cy="0"/>
          <a:chOff x="0" y="0"/>
          <a:chExt cx="0" cy="0"/>
        </a:xfrm>
      </p:grpSpPr>
      <p:sp>
        <p:nvSpPr>
          <p:cNvPr id="393" name="Google Shape;393;p23"/>
          <p:cNvSpPr/>
          <p:nvPr/>
        </p:nvSpPr>
        <p:spPr>
          <a:xfrm>
            <a:off x="0" y="0"/>
            <a:ext cx="12191999" cy="685736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394" name="Google Shape;394;p23"/>
          <p:cNvGrpSpPr/>
          <p:nvPr/>
        </p:nvGrpSpPr>
        <p:grpSpPr>
          <a:xfrm>
            <a:off x="4" y="1216597"/>
            <a:ext cx="731521" cy="673460"/>
            <a:chOff x="3940602" y="308034"/>
            <a:chExt cx="2116791" cy="3428999"/>
          </a:xfrm>
        </p:grpSpPr>
        <p:sp>
          <p:nvSpPr>
            <p:cNvPr id="395" name="Google Shape;395;p23"/>
            <p:cNvSpPr/>
            <p:nvPr/>
          </p:nvSpPr>
          <p:spPr>
            <a:xfrm>
              <a:off x="3940602"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96" name="Google Shape;396;p23"/>
            <p:cNvSpPr/>
            <p:nvPr/>
          </p:nvSpPr>
          <p:spPr>
            <a:xfrm>
              <a:off x="4715626"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97" name="Google Shape;397;p23"/>
            <p:cNvSpPr/>
            <p:nvPr/>
          </p:nvSpPr>
          <p:spPr>
            <a:xfrm>
              <a:off x="5490650" y="308034"/>
              <a:ext cx="566743" cy="3428999"/>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398" name="Google Shape;398;p23"/>
          <p:cNvSpPr/>
          <p:nvPr/>
        </p:nvSpPr>
        <p:spPr>
          <a:xfrm>
            <a:off x="640079" y="613954"/>
            <a:ext cx="10907487" cy="1894116"/>
          </a:xfrm>
          <a:prstGeom prst="rect">
            <a:avLst/>
          </a:prstGeom>
          <a:solidFill>
            <a:schemeClr val="lt1"/>
          </a:solidFill>
          <a:ln>
            <a:noFill/>
          </a:ln>
          <a:effectLst>
            <a:outerShdw blurRad="139700" rotWithShape="0" algn="t" dir="5400000" dist="127000">
              <a:srgbClr val="000000">
                <a:alpha val="1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99" name="Google Shape;399;p23"/>
          <p:cNvSpPr txBox="1"/>
          <p:nvPr>
            <p:ph type="title"/>
          </p:nvPr>
        </p:nvSpPr>
        <p:spPr>
          <a:xfrm>
            <a:off x="1043631" y="809898"/>
            <a:ext cx="9942716" cy="15544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800"/>
              <a:buFont typeface="Play"/>
              <a:buNone/>
            </a:pPr>
            <a:r>
              <a:rPr lang="en-US" sz="4800"/>
              <a:t>Shaimaa</a:t>
            </a:r>
            <a:endParaRPr/>
          </a:p>
        </p:txBody>
      </p:sp>
      <p:sp>
        <p:nvSpPr>
          <p:cNvPr id="400" name="Google Shape;400;p23"/>
          <p:cNvSpPr txBox="1"/>
          <p:nvPr>
            <p:ph idx="1" type="body"/>
          </p:nvPr>
        </p:nvSpPr>
        <p:spPr>
          <a:xfrm>
            <a:off x="1045028" y="3017522"/>
            <a:ext cx="9941319" cy="3124658"/>
          </a:xfrm>
          <a:prstGeom prst="rect">
            <a:avLst/>
          </a:prstGeom>
          <a:noFill/>
          <a:ln>
            <a:noFill/>
          </a:ln>
        </p:spPr>
        <p:txBody>
          <a:bodyPr anchorCtr="0" anchor="ctr"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For this deliverable, our team employed Git and GitHub to perform file uploads, pulls, and pushes. We assisted one another with the procedures involved and, in the process, learnt how version control operates. Collaboration facilitated the comprehension of commands and the execution of tasks. This segment enhanced our proficiency in using Git for collaborative projects.</a:t>
            </a:r>
            <a:endParaRPr/>
          </a:p>
        </p:txBody>
      </p:sp>
      <p:cxnSp>
        <p:nvCxnSpPr>
          <p:cNvPr id="401" name="Google Shape;401;p23"/>
          <p:cNvCxnSpPr/>
          <p:nvPr/>
        </p:nvCxnSpPr>
        <p:spPr>
          <a:xfrm rot="10800000">
            <a:off x="838200" y="6485313"/>
            <a:ext cx="10515600" cy="0"/>
          </a:xfrm>
          <a:prstGeom prst="straightConnector1">
            <a:avLst/>
          </a:prstGeom>
          <a:noFill/>
          <a:ln cap="flat" cmpd="sng" w="57150">
            <a:solidFill>
              <a:schemeClr val="accent4"/>
            </a:solidFill>
            <a:prstDash val="solid"/>
            <a:miter lim="800000"/>
            <a:headEnd len="sm" w="sm" type="none"/>
            <a:tailEnd len="sm" w="sm" type="none"/>
          </a:ln>
        </p:spPr>
      </p:cxn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pic>
        <p:nvPicPr>
          <p:cNvPr id="406" name="Google Shape;406;g3a953708ef8_2_15"/>
          <p:cNvPicPr preferRelativeResize="0"/>
          <p:nvPr/>
        </p:nvPicPr>
        <p:blipFill>
          <a:blip r:embed="rId3">
            <a:alphaModFix/>
          </a:blip>
          <a:stretch>
            <a:fillRect/>
          </a:stretch>
        </p:blipFill>
        <p:spPr>
          <a:xfrm>
            <a:off x="7055820" y="3902225"/>
            <a:ext cx="4534605" cy="2955775"/>
          </a:xfrm>
          <a:prstGeom prst="rect">
            <a:avLst/>
          </a:prstGeom>
          <a:noFill/>
          <a:ln>
            <a:noFill/>
          </a:ln>
        </p:spPr>
      </p:pic>
      <p:pic>
        <p:nvPicPr>
          <p:cNvPr id="407" name="Google Shape;407;g3a953708ef8_2_15"/>
          <p:cNvPicPr preferRelativeResize="0"/>
          <p:nvPr/>
        </p:nvPicPr>
        <p:blipFill>
          <a:blip r:embed="rId4">
            <a:alphaModFix/>
          </a:blip>
          <a:stretch>
            <a:fillRect/>
          </a:stretch>
        </p:blipFill>
        <p:spPr>
          <a:xfrm>
            <a:off x="7170825" y="0"/>
            <a:ext cx="4900876" cy="3189459"/>
          </a:xfrm>
          <a:prstGeom prst="rect">
            <a:avLst/>
          </a:prstGeom>
          <a:noFill/>
          <a:ln>
            <a:noFill/>
          </a:ln>
        </p:spPr>
      </p:pic>
      <p:pic>
        <p:nvPicPr>
          <p:cNvPr id="408" name="Google Shape;408;g3a953708ef8_2_15"/>
          <p:cNvPicPr preferRelativeResize="0"/>
          <p:nvPr/>
        </p:nvPicPr>
        <p:blipFill>
          <a:blip r:embed="rId5">
            <a:alphaModFix/>
          </a:blip>
          <a:stretch>
            <a:fillRect/>
          </a:stretch>
        </p:blipFill>
        <p:spPr>
          <a:xfrm>
            <a:off x="733925" y="317363"/>
            <a:ext cx="4539925" cy="2955775"/>
          </a:xfrm>
          <a:prstGeom prst="rect">
            <a:avLst/>
          </a:prstGeom>
          <a:noFill/>
          <a:ln>
            <a:noFill/>
          </a:ln>
        </p:spPr>
      </p:pic>
      <p:sp>
        <p:nvSpPr>
          <p:cNvPr id="409" name="Google Shape;409;g3a953708ef8_2_15"/>
          <p:cNvSpPr txBox="1"/>
          <p:nvPr/>
        </p:nvSpPr>
        <p:spPr>
          <a:xfrm>
            <a:off x="217875" y="3769900"/>
            <a:ext cx="6737700" cy="258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solidFill>
                  <a:schemeClr val="dk1"/>
                </a:solidFill>
                <a:highlight>
                  <a:srgbClr val="FFFFFF"/>
                </a:highlight>
              </a:rPr>
              <a:t>Deliverable 4 was a team effort, and every member created a GitHub repository and uploaded the corresponding files from their project. We worked together throughout the whole process, sharing and teaching each other the various steps such as Git installation, GitHub connection, and folder structure arrangement.</a:t>
            </a:r>
            <a:endParaRPr sz="1300">
              <a:solidFill>
                <a:schemeClr val="dk1"/>
              </a:solidFill>
              <a:highlight>
                <a:srgbClr val="FFFFFF"/>
              </a:highlight>
            </a:endParaRPr>
          </a:p>
          <a:p>
            <a:pPr indent="0" lvl="0" marL="0" rtl="0" algn="l">
              <a:spcBef>
                <a:spcPts val="0"/>
              </a:spcBef>
              <a:spcAft>
                <a:spcPts val="0"/>
              </a:spcAft>
              <a:buNone/>
            </a:pPr>
            <a:r>
              <a:t/>
            </a:r>
            <a:endParaRPr sz="1300">
              <a:solidFill>
                <a:schemeClr val="dk1"/>
              </a:solidFill>
              <a:highlight>
                <a:srgbClr val="FFFFFF"/>
              </a:highlight>
            </a:endParaRPr>
          </a:p>
          <a:p>
            <a:pPr indent="0" lvl="0" marL="0" rtl="0" algn="l">
              <a:spcBef>
                <a:spcPts val="0"/>
              </a:spcBef>
              <a:spcAft>
                <a:spcPts val="0"/>
              </a:spcAft>
              <a:buNone/>
            </a:pPr>
            <a:r>
              <a:rPr lang="en-US" sz="1300">
                <a:solidFill>
                  <a:schemeClr val="dk1"/>
                </a:solidFill>
                <a:highlight>
                  <a:srgbClr val="FFFFFF"/>
                </a:highlight>
              </a:rPr>
              <a:t>We ran into some hurdles during the course of the project at times the repositories were out of sync, and we had to reconfigure or reset the GitHub arrangement more than once. But the team spirit prevailed, and we did not give up until everything was functional.</a:t>
            </a:r>
            <a:endParaRPr sz="1300">
              <a:solidFill>
                <a:schemeClr val="dk1"/>
              </a:solidFill>
              <a:highlight>
                <a:srgbClr val="FFFFFF"/>
              </a:highlight>
            </a:endParaRPr>
          </a:p>
          <a:p>
            <a:pPr indent="0" lvl="0" marL="0" rtl="0" algn="l">
              <a:spcBef>
                <a:spcPts val="0"/>
              </a:spcBef>
              <a:spcAft>
                <a:spcPts val="0"/>
              </a:spcAft>
              <a:buNone/>
            </a:pPr>
            <a:r>
              <a:t/>
            </a:r>
            <a:endParaRPr sz="1300">
              <a:solidFill>
                <a:schemeClr val="dk1"/>
              </a:solidFill>
              <a:highlight>
                <a:srgbClr val="FFFFFF"/>
              </a:highlight>
            </a:endParaRPr>
          </a:p>
          <a:p>
            <a:pPr indent="0" lvl="0" marL="0" rtl="0" algn="l">
              <a:spcBef>
                <a:spcPts val="0"/>
              </a:spcBef>
              <a:spcAft>
                <a:spcPts val="0"/>
              </a:spcAft>
              <a:buNone/>
            </a:pPr>
            <a:r>
              <a:rPr lang="en-US" sz="1300">
                <a:solidFill>
                  <a:schemeClr val="dk1"/>
                </a:solidFill>
                <a:highlight>
                  <a:srgbClr val="FFFFFF"/>
                </a:highlight>
              </a:rPr>
              <a:t>Eventually, the repository was successfully created, and all the files were uploaded. We gained first-hand experience of how to handle real teamwork and version control in practice.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13" name="Shape 413"/>
        <p:cNvGrpSpPr/>
        <p:nvPr/>
      </p:nvGrpSpPr>
      <p:grpSpPr>
        <a:xfrm>
          <a:off x="0" y="0"/>
          <a:ext cx="0" cy="0"/>
          <a:chOff x="0" y="0"/>
          <a:chExt cx="0" cy="0"/>
        </a:xfrm>
      </p:grpSpPr>
      <p:sp>
        <p:nvSpPr>
          <p:cNvPr id="414" name="Google Shape;414;p24"/>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415" name="Google Shape;415;p24"/>
          <p:cNvSpPr/>
          <p:nvPr/>
        </p:nvSpPr>
        <p:spPr>
          <a:xfrm flipH="1">
            <a:off x="8576720" y="3335867"/>
            <a:ext cx="3291840" cy="3200400"/>
          </a:xfrm>
          <a:prstGeom prst="rtTriangl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416" name="Google Shape;416;p24"/>
          <p:cNvSpPr/>
          <p:nvPr/>
        </p:nvSpPr>
        <p:spPr>
          <a:xfrm>
            <a:off x="641774" y="623275"/>
            <a:ext cx="10905053" cy="5607882"/>
          </a:xfrm>
          <a:prstGeom prst="rect">
            <a:avLst/>
          </a:prstGeom>
          <a:noFill/>
          <a:ln cap="flat" cmpd="sng" w="19050">
            <a:solidFill>
              <a:srgbClr val="3F3F3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417" name="Google Shape;417;p24"/>
          <p:cNvSpPr txBox="1"/>
          <p:nvPr/>
        </p:nvSpPr>
        <p:spPr>
          <a:xfrm>
            <a:off x="1919490" y="2027007"/>
            <a:ext cx="8074800" cy="2800500"/>
          </a:xfrm>
          <a:prstGeom prst="rect">
            <a:avLst/>
          </a:prstGeom>
          <a:noFill/>
          <a:ln>
            <a:noFill/>
          </a:ln>
        </p:spPr>
        <p:txBody>
          <a:bodyPr anchorCtr="0" anchor="t" bIns="45700" lIns="91425" spcFirstLastPara="1" rIns="91425" wrap="square" tIns="45700">
            <a:normAutofit fontScale="92500" lnSpcReduction="20000"/>
          </a:bodyPr>
          <a:lstStyle/>
          <a:p>
            <a:pPr indent="0" lvl="0" marL="0" marR="0" rtl="0" algn="ctr">
              <a:spcBef>
                <a:spcPts val="0"/>
              </a:spcBef>
              <a:spcAft>
                <a:spcPts val="0"/>
              </a:spcAft>
              <a:buNone/>
            </a:pPr>
            <a:r>
              <a:rPr b="0" i="0" lang="en-US" sz="2400" u="none" cap="none" strike="noStrike">
                <a:solidFill>
                  <a:schemeClr val="dk1"/>
                </a:solidFill>
                <a:latin typeface="Arial"/>
                <a:ea typeface="Arial"/>
                <a:cs typeface="Arial"/>
                <a:sym typeface="Arial"/>
              </a:rPr>
              <a:t>To sum up, our undertaking demonstrated the potential of merging data analysis, machine learning, and GitHub collaboration to produce a neat, well-structured system. As a team, we acquired new techniques, helped one another, and got the gist of how the actual data could be transformed, evaluated, and disseminated. This venture not only increased our technical ability but also enhanced our cooperation. We appreciate your attention.</a:t>
            </a:r>
            <a:endParaRPr/>
          </a:p>
          <a:p>
            <a:pPr indent="0" lvl="0" marL="0" marR="0" rtl="0" algn="l">
              <a:spcBef>
                <a:spcPts val="0"/>
              </a:spcBef>
              <a:spcAft>
                <a:spcPts val="0"/>
              </a:spcAft>
              <a:buNone/>
            </a:pPr>
            <a:br>
              <a:rPr b="0" i="0" lang="en-US" sz="2400" u="none" cap="none" strike="noStrike">
                <a:solidFill>
                  <a:schemeClr val="dk1"/>
                </a:solidFill>
                <a:latin typeface="Arial"/>
                <a:ea typeface="Arial"/>
                <a:cs typeface="Arial"/>
                <a:sym typeface="Arial"/>
              </a:rPr>
            </a:br>
            <a:endParaRPr sz="24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2025-11-21T15:27:31Z</dcterms:created>
  <dc:creator>Hamdah Hassan Ali Hassan Alkindi(H00492795)</dc:creator>
</cp:coreProperties>
</file>